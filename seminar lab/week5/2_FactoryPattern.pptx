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84" r:id="rId3"/>
    <p:sldId id="257" r:id="rId4"/>
    <p:sldId id="292" r:id="rId5"/>
    <p:sldId id="293" r:id="rId6"/>
    <p:sldId id="294" r:id="rId7"/>
    <p:sldId id="295" r:id="rId8"/>
    <p:sldId id="296" r:id="rId9"/>
    <p:sldId id="297" r:id="rId10"/>
    <p:sldId id="302" r:id="rId11"/>
    <p:sldId id="303" r:id="rId12"/>
    <p:sldId id="300" r:id="rId13"/>
    <p:sldId id="301" r:id="rId14"/>
    <p:sldId id="287" r:id="rId15"/>
    <p:sldId id="288" r:id="rId16"/>
    <p:sldId id="298" r:id="rId17"/>
    <p:sldId id="289" r:id="rId18"/>
    <p:sldId id="291" r:id="rId19"/>
    <p:sldId id="304" r:id="rId20"/>
    <p:sldId id="324" r:id="rId21"/>
    <p:sldId id="326" r:id="rId22"/>
    <p:sldId id="325" r:id="rId23"/>
    <p:sldId id="290" r:id="rId24"/>
    <p:sldId id="259" r:id="rId25"/>
    <p:sldId id="260" r:id="rId26"/>
    <p:sldId id="323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70FF0-280C-4FCA-9FFD-8A34B0D46C4F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5047A-4D0A-41DD-A530-847E8C2D7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04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34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703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030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547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90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23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533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214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71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160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967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2175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4437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898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741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484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DBD0-B3AD-4520-B0CF-DFA4E7D2178C}" type="datetimeFigureOut">
              <a:rPr lang="bg-BG" smtClean="0"/>
              <a:t>22.10.2025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19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48A3-04CB-5848-5BBA-80FB09BE3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351" y="1231429"/>
            <a:ext cx="9318049" cy="3823043"/>
          </a:xfrm>
        </p:spPr>
        <p:txBody>
          <a:bodyPr>
            <a:normAutofit/>
          </a:bodyPr>
          <a:lstStyle/>
          <a:p>
            <a:r>
              <a:rPr lang="ru-RU" sz="3200" b="1" dirty="0"/>
              <a:t>Упражнение </a:t>
            </a:r>
            <a:r>
              <a:rPr lang="bg-BG" sz="3200" b="1" dirty="0"/>
              <a:t>4</a:t>
            </a:r>
            <a:r>
              <a:rPr lang="ru-RU" sz="3200" b="1" dirty="0"/>
              <a:t>: </a:t>
            </a:r>
            <a:br>
              <a:rPr lang="ru-RU" sz="3200" dirty="0"/>
            </a:br>
            <a:r>
              <a:rPr lang="ru-RU" sz="3200" dirty="0"/>
              <a:t>Софтуерни шаблони. </a:t>
            </a:r>
            <a:r>
              <a:rPr lang="en-US" sz="3200" dirty="0"/>
              <a:t>Factory pattern. Dependency injection. </a:t>
            </a:r>
            <a:r>
              <a:rPr lang="ru-RU" sz="3200" dirty="0"/>
              <a:t>Работа с абстрактни класове и интерфейси.</a:t>
            </a:r>
            <a:br>
              <a:rPr lang="ru-RU" sz="3200" dirty="0"/>
            </a:br>
            <a:endParaRPr lang="bg-BG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8906F-6DAE-46B2-E939-EB991D6AF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2559" y="5159618"/>
            <a:ext cx="8915399" cy="1126283"/>
          </a:xfrm>
        </p:spPr>
        <p:txBody>
          <a:bodyPr>
            <a:normAutofit lnSpcReduction="10000"/>
          </a:bodyPr>
          <a:lstStyle/>
          <a:p>
            <a:pPr algn="r"/>
            <a:r>
              <a:rPr lang="bg-BG" dirty="0"/>
              <a:t>инж. Лилия Андонова</a:t>
            </a:r>
          </a:p>
          <a:p>
            <a:pPr algn="r"/>
            <a:r>
              <a:rPr lang="bg-BG" dirty="0"/>
              <a:t>ТУ – София</a:t>
            </a:r>
          </a:p>
          <a:p>
            <a:pPr algn="r"/>
            <a:r>
              <a:rPr lang="bg-BG" dirty="0"/>
              <a:t>ФКСТ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48DC3-5E79-D6EF-E8D0-30DCF73F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763" y="0"/>
            <a:ext cx="28479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AF44-AA7B-DDE6-E96B-0B94DAB1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83" y="624110"/>
            <a:ext cx="9934430" cy="742872"/>
          </a:xfrm>
        </p:spPr>
        <p:txBody>
          <a:bodyPr/>
          <a:lstStyle/>
          <a:p>
            <a:r>
              <a:rPr lang="bg-BG" b="1" dirty="0"/>
              <a:t>Да си припомним какво е: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2FF7-F3D1-2DC4-CEB5-1F1DBAA9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Клас „Arrays“.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Вградени методи за работа с масиви.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Подаване на масив като параметър на метод.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Отпечатване, сравнение и сортиране на масиви.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Търсене в масив.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5477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E6E3-9EE3-F7A3-F96E-3C674270B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872181"/>
          </a:xfrm>
        </p:spPr>
        <p:txBody>
          <a:bodyPr/>
          <a:lstStyle/>
          <a:p>
            <a:r>
              <a:rPr lang="bg-BG" b="1" dirty="0"/>
              <a:t>Упражнението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D37F-1C35-FC2A-E533-A7732BE3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Какво са класове и обекти</a:t>
            </a:r>
          </a:p>
          <a:p>
            <a:r>
              <a:rPr lang="ru-RU" sz="1800" dirty="0"/>
              <a:t>Софтуерни шаблони. </a:t>
            </a:r>
          </a:p>
          <a:p>
            <a:r>
              <a:rPr lang="en-US" sz="1800" dirty="0"/>
              <a:t>Factory pattern. </a:t>
            </a:r>
            <a:endParaRPr lang="bg-BG" sz="1800" dirty="0"/>
          </a:p>
          <a:p>
            <a:r>
              <a:rPr lang="en-US" sz="1800" dirty="0"/>
              <a:t>Dependency injection. </a:t>
            </a:r>
            <a:endParaRPr lang="bg-BG" sz="1800" dirty="0"/>
          </a:p>
          <a:p>
            <a:r>
              <a:rPr lang="ru-RU" sz="1800" dirty="0"/>
              <a:t>Работа с абстрактни класове и интерфейси.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34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952E-11D5-C4CD-B4BF-3DBFA011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6" y="624110"/>
            <a:ext cx="9915956" cy="687454"/>
          </a:xfrm>
        </p:spPr>
        <p:txBody>
          <a:bodyPr/>
          <a:lstStyle/>
          <a:p>
            <a:r>
              <a:rPr lang="ru-RU" b="1" dirty="0"/>
              <a:t>Какво е клас?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295-05DC-C1AE-B0AE-0B93D4030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655" y="1692113"/>
            <a:ext cx="4756727" cy="421173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Класът е основен елемент на обектно-ориентираното програмиране (ООП) и представлява шаблон или схема, по която се създават обекти. </a:t>
            </a:r>
          </a:p>
          <a:p>
            <a:r>
              <a:rPr lang="ru-RU" dirty="0"/>
              <a:t>Класът определя какви атрибути (полетата/променливите) и методи (функции) ще има обектът.</a:t>
            </a:r>
          </a:p>
          <a:p>
            <a:r>
              <a:rPr lang="ru-RU" dirty="0"/>
              <a:t>В примера класът Car представлява шаблон за автомобили с полета като </a:t>
            </a:r>
            <a:r>
              <a:rPr lang="ru-RU" b="1" dirty="0"/>
              <a:t>model, year, и color </a:t>
            </a:r>
            <a:r>
              <a:rPr lang="ru-RU" dirty="0"/>
              <a:t>и методи като </a:t>
            </a:r>
            <a:r>
              <a:rPr lang="ru-RU" b="1" dirty="0"/>
              <a:t>startEngine() и displayInfo().</a:t>
            </a:r>
            <a:endParaRPr lang="bg-B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21823-6265-1CE6-1D76-6EC8BE2DA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5782" y="1524000"/>
            <a:ext cx="5975927" cy="43798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class Car {    // </a:t>
            </a:r>
            <a:r>
              <a:rPr lang="bg-BG" dirty="0"/>
              <a:t>Полета на класа (атрибути)    	</a:t>
            </a:r>
            <a:r>
              <a:rPr lang="en-US" dirty="0"/>
              <a:t>String model;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int year;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String color;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Метод на класа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void startEngine() {        </a:t>
            </a:r>
            <a:r>
              <a:rPr lang="bg-BG" dirty="0"/>
              <a:t>	</a:t>
            </a:r>
            <a:r>
              <a:rPr lang="en-US" dirty="0"/>
              <a:t>System.out.println("Engine started.");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}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void displayInfo() {        </a:t>
            </a:r>
            <a:r>
              <a:rPr lang="bg-BG" dirty="0"/>
              <a:t>	</a:t>
            </a:r>
            <a:r>
              <a:rPr lang="en-US" dirty="0"/>
              <a:t>System.out.println("Model: " + model + ", Year: " + year + ", Color: " + color);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bg-BG" dirty="0"/>
              <a:t>	</a:t>
            </a:r>
            <a:r>
              <a:rPr lang="en-US" dirty="0"/>
              <a:t>}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9612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07172-6CD3-CA8A-6961-850B5A04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074" y="624110"/>
            <a:ext cx="9860538" cy="63203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Какво е обект?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C4582-E97B-29E4-5A6D-60DB04467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9648" y="1921163"/>
            <a:ext cx="4313864" cy="377762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Обектът е конкретна инстанция на даден клас. С други думи, когато създадете обект от даден клас, вие създавате реализация на този клас с конкретни стойности за неговите полета.</a:t>
            </a:r>
            <a:endParaRPr lang="bg-B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32F5A-2C70-AED5-6E71-DA0571F9F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8690" y="1524000"/>
            <a:ext cx="6271492" cy="47098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class Main {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static void main(String[] args) {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// </a:t>
            </a:r>
            <a:r>
              <a:rPr lang="bg-BG" dirty="0"/>
              <a:t>Създаване на обект от класа </a:t>
            </a:r>
            <a:r>
              <a:rPr lang="en-US" dirty="0"/>
              <a:t>Car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Car myCar = new Car();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myCar.model = "Toyota Corolla";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myCar.year = 2020;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myCar.color = "Red";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// </a:t>
            </a:r>
            <a:r>
              <a:rPr lang="bg-BG" dirty="0"/>
              <a:t>Извикване на метод        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myCar.displayInfo(); // Output: Model: </a:t>
            </a:r>
            <a:r>
              <a:rPr lang="bg-BG" dirty="0"/>
              <a:t>				</a:t>
            </a:r>
            <a:r>
              <a:rPr lang="en-US" dirty="0"/>
              <a:t>Toyota Corolla, Year: 2020, Color: Red        </a:t>
            </a:r>
            <a:r>
              <a:rPr lang="bg-BG" dirty="0"/>
              <a:t>			</a:t>
            </a:r>
            <a:r>
              <a:rPr lang="en-US" dirty="0"/>
              <a:t>myCar.startEngine(); // Output: Engine started.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}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0987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CCDF-49F5-2B62-8920-A92C92D6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6" y="624110"/>
            <a:ext cx="9915956" cy="678217"/>
          </a:xfrm>
        </p:spPr>
        <p:txBody>
          <a:bodyPr/>
          <a:lstStyle/>
          <a:p>
            <a:r>
              <a:rPr lang="ru-RU" b="1" dirty="0"/>
              <a:t>Конструктори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BC72-5AED-435A-4097-9010A7CA6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9648" y="1779679"/>
            <a:ext cx="4725988" cy="445421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Конструкторите са специални методи, които се използват за инициализация на обекти. Те имат същото име като класа и нямат върнат тип.</a:t>
            </a:r>
          </a:p>
          <a:p>
            <a:r>
              <a:rPr lang="ru-RU" dirty="0"/>
              <a:t>Конструкторът се извиква автоматично при създаването на нов обект с ключовата дума new.</a:t>
            </a:r>
          </a:p>
          <a:p>
            <a:r>
              <a:rPr lang="ru-RU" dirty="0"/>
              <a:t>Инициализира обекта и задава първоначални стойности на неговите променливи или извършва начална настройка.</a:t>
            </a:r>
            <a:endParaRPr lang="bg-B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F6E55-72D0-F0AE-218E-ECAC5716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5709" y="1699491"/>
            <a:ext cx="5888902" cy="42043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public class Car {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String model;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int year;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String color;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Конструктор с параметри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Car(String model, int year, String color) {        </a:t>
            </a:r>
            <a:r>
              <a:rPr lang="bg-BG" dirty="0"/>
              <a:t>		</a:t>
            </a:r>
            <a:r>
              <a:rPr lang="en-US" dirty="0"/>
              <a:t>this.model = model;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this.year = year;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this.color = color;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}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......................................................</a:t>
            </a:r>
          </a:p>
          <a:p>
            <a:pPr marL="0" indent="0">
              <a:buNone/>
            </a:pPr>
            <a:r>
              <a:rPr lang="en-US" sz="2000" dirty="0"/>
              <a:t>}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47499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0FEE-7DCC-05A8-9B87-6FAE93D8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650508"/>
          </a:xfrm>
        </p:spPr>
        <p:txBody>
          <a:bodyPr/>
          <a:lstStyle/>
          <a:p>
            <a:r>
              <a:rPr lang="ru-RU" b="1" dirty="0"/>
              <a:t>Разлики между клас и обект</a:t>
            </a:r>
            <a:r>
              <a:rPr lang="en-US" b="1" dirty="0"/>
              <a:t>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DE482-9660-9848-A5FA-0CE7D157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0" y="2133600"/>
            <a:ext cx="9879012" cy="3777622"/>
          </a:xfrm>
        </p:spPr>
        <p:txBody>
          <a:bodyPr/>
          <a:lstStyle/>
          <a:p>
            <a:r>
              <a:rPr lang="ru-RU" dirty="0"/>
              <a:t>Клас: Абстрактна концепция или шаблон, който описва какво представлява дадена структура (напр. какво съдържа и какво може да прави).</a:t>
            </a:r>
            <a:endParaRPr lang="en-US" dirty="0"/>
          </a:p>
          <a:p>
            <a:r>
              <a:rPr lang="ru-RU" dirty="0"/>
              <a:t>Обект: Конкретна инстанция на класа с реални стойности за неговите атрибути.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6754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2355-EDFE-D60D-0BBF-FEC8AC77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733635"/>
          </a:xfrm>
        </p:spPr>
        <p:txBody>
          <a:bodyPr/>
          <a:lstStyle/>
          <a:p>
            <a:r>
              <a:rPr lang="ru-RU" b="1" dirty="0"/>
              <a:t>Полета и методи на класа</a:t>
            </a:r>
            <a:r>
              <a:rPr lang="en-US" b="1" dirty="0"/>
              <a:t>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27F67-960F-F6B6-94BB-CBC8AAB13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583" y="2133600"/>
            <a:ext cx="4040671" cy="377762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Полета: Променливи, които съхраняват състоянието на обекта (напр. model, year).</a:t>
            </a:r>
            <a:endParaRPr lang="en-US" dirty="0"/>
          </a:p>
          <a:p>
            <a:r>
              <a:rPr lang="ru-RU" dirty="0"/>
              <a:t>Методи: Функции, които описват поведението на обекта (напр. startEngine()).</a:t>
            </a:r>
            <a:endParaRPr lang="bg-B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4B37C-FF95-2310-3BCB-0F02B03C0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4510" y="1764145"/>
            <a:ext cx="6825672" cy="43318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public class Calculator {    </a:t>
            </a:r>
          </a:p>
          <a:p>
            <a:pPr marL="0" indent="0">
              <a:buNone/>
            </a:pPr>
            <a:r>
              <a:rPr lang="en-US" dirty="0"/>
              <a:t>	public int add(int a, int b) {        </a:t>
            </a:r>
          </a:p>
          <a:p>
            <a:pPr marL="0" indent="0">
              <a:buNone/>
            </a:pPr>
            <a:r>
              <a:rPr lang="en-US" dirty="0"/>
              <a:t>		return a + b;   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Тест в главния клас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class Main {    </a:t>
            </a:r>
          </a:p>
          <a:p>
            <a:pPr marL="0" indent="0">
              <a:buNone/>
            </a:pPr>
            <a:r>
              <a:rPr lang="en-US" dirty="0"/>
              <a:t>	public static void main(String[] args) {        </a:t>
            </a:r>
          </a:p>
          <a:p>
            <a:pPr marL="0" indent="0">
              <a:buNone/>
            </a:pPr>
            <a:r>
              <a:rPr lang="en-US" dirty="0"/>
              <a:t>		Calculator calc = new Calculator();        </a:t>
            </a:r>
          </a:p>
          <a:p>
            <a:pPr marL="0" indent="0">
              <a:buNone/>
            </a:pPr>
            <a:r>
              <a:rPr lang="en-US" dirty="0"/>
              <a:t>		int result = calc.add(5, 3);        </a:t>
            </a:r>
          </a:p>
          <a:p>
            <a:pPr marL="0" indent="0">
              <a:buNone/>
            </a:pPr>
            <a:r>
              <a:rPr lang="en-US" dirty="0"/>
              <a:t>		System.out.println("Sum: " + result); // Output: Sum: 8   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6659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3E84-EED3-5168-05B5-66957FB3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9" y="624110"/>
            <a:ext cx="9925194" cy="705926"/>
          </a:xfrm>
        </p:spPr>
        <p:txBody>
          <a:bodyPr>
            <a:normAutofit/>
          </a:bodyPr>
          <a:lstStyle/>
          <a:p>
            <a:r>
              <a:rPr lang="ru-RU" b="1" dirty="0"/>
              <a:t>Достъп до членовете на класа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E993-134B-8147-5680-5DBFF72E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133600"/>
            <a:ext cx="10387012" cy="3777622"/>
          </a:xfrm>
        </p:spPr>
        <p:txBody>
          <a:bodyPr/>
          <a:lstStyle/>
          <a:p>
            <a:r>
              <a:rPr lang="ru-RU" dirty="0"/>
              <a:t>Модификаторите за достъп определят видимостта на полетата и методите:</a:t>
            </a:r>
            <a:endParaRPr lang="bg-B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C4A1F9-8CF0-BDC0-A775-FD59F7510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04816"/>
              </p:ext>
            </p:extLst>
          </p:nvPr>
        </p:nvGraphicFramePr>
        <p:xfrm>
          <a:off x="1773382" y="3095311"/>
          <a:ext cx="880225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163">
                  <a:extLst>
                    <a:ext uri="{9D8B030D-6E8A-4147-A177-3AD203B41FA5}">
                      <a16:colId xmlns:a16="http://schemas.microsoft.com/office/drawing/2014/main" val="4015954941"/>
                    </a:ext>
                  </a:extLst>
                </a:gridCol>
                <a:gridCol w="1599739">
                  <a:extLst>
                    <a:ext uri="{9D8B030D-6E8A-4147-A177-3AD203B41FA5}">
                      <a16:colId xmlns:a16="http://schemas.microsoft.com/office/drawing/2014/main" val="394250740"/>
                    </a:ext>
                  </a:extLst>
                </a:gridCol>
                <a:gridCol w="1760451">
                  <a:extLst>
                    <a:ext uri="{9D8B030D-6E8A-4147-A177-3AD203B41FA5}">
                      <a16:colId xmlns:a16="http://schemas.microsoft.com/office/drawing/2014/main" val="730357330"/>
                    </a:ext>
                  </a:extLst>
                </a:gridCol>
                <a:gridCol w="1760451">
                  <a:extLst>
                    <a:ext uri="{9D8B030D-6E8A-4147-A177-3AD203B41FA5}">
                      <a16:colId xmlns:a16="http://schemas.microsoft.com/office/drawing/2014/main" val="2854040289"/>
                    </a:ext>
                  </a:extLst>
                </a:gridCol>
                <a:gridCol w="1760451">
                  <a:extLst>
                    <a:ext uri="{9D8B030D-6E8A-4147-A177-3AD203B41FA5}">
                      <a16:colId xmlns:a16="http://schemas.microsoft.com/office/drawing/2014/main" val="3292908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модификатор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клас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пакет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наследници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проект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54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public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bg-BG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да</a:t>
                      </a:r>
                      <a:endParaRPr kumimoji="0" lang="bg-BG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bg-BG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да</a:t>
                      </a:r>
                      <a:endParaRPr kumimoji="0" lang="bg-BG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76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protected	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bg-BG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bg-BG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33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private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23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modifier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4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65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56D-2457-DF34-1400-FEDA3BB1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9" y="624110"/>
            <a:ext cx="9925194" cy="613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Капсулация (Encapsulation)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5385-55BC-1200-E6C1-33CB234EE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491" y="1717964"/>
            <a:ext cx="10313121" cy="419325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Капсулация е принцип в ООП, който включва комбинирането на данни (пр</a:t>
            </a:r>
            <a:r>
              <a:rPr lang="bg-BG" dirty="0"/>
              <a:t>о</a:t>
            </a:r>
            <a:r>
              <a:rPr lang="ru-RU" dirty="0"/>
              <a:t>менливи) и методи в един обект, така че те да бъдат достъпни и манипулирани само по определен начин. </a:t>
            </a:r>
          </a:p>
          <a:p>
            <a:pPr marL="0" indent="0">
              <a:buNone/>
            </a:pPr>
            <a:r>
              <a:rPr lang="ru-RU" dirty="0"/>
              <a:t>В основата си капсулацията цели да защити вътрешните данни на обекта от външни промени или неоторизиран достъп и да осигури интерфейс за безопасно взаимодействие с тези данни.</a:t>
            </a:r>
          </a:p>
          <a:p>
            <a:pPr marL="0" indent="0">
              <a:buNone/>
            </a:pPr>
            <a:r>
              <a:rPr lang="ru-RU" dirty="0"/>
              <a:t>Основни аспекти на капсулацията: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Скриване на данни (data hiding): Частните (private) променливи на класа не могат да бъдат достъпвани директно извън класа.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Контрол на достъпа: Чрез публични (public) методи за достъп (например get и set методи), можем да контролираме как данните се променят и четат.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674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451A-DFB8-58CD-747F-7B90CBBCB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090" y="452582"/>
            <a:ext cx="5661892" cy="60590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public class BankAccount {    </a:t>
            </a:r>
            <a:endParaRPr lang="bg-BG" dirty="0"/>
          </a:p>
          <a:p>
            <a:r>
              <a:rPr lang="en-US" dirty="0"/>
              <a:t>// </a:t>
            </a:r>
            <a:r>
              <a:rPr lang="bg-BG" dirty="0"/>
              <a:t>Частна променлива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private double balance;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Публичен конструктор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BankAccount(double initialBalance) {        </a:t>
            </a:r>
            <a:r>
              <a:rPr lang="bg-BG" dirty="0"/>
              <a:t>		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if (initialBalance &gt;= 0) {            </a:t>
            </a:r>
            <a:r>
              <a:rPr lang="bg-BG" dirty="0"/>
              <a:t>					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this.balance = initialBalance;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} else {    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this.balance = 0;      </a:t>
            </a:r>
            <a:r>
              <a:rPr lang="bg-BG" dirty="0"/>
              <a:t>	</a:t>
            </a:r>
            <a:r>
              <a:rPr lang="en-US" dirty="0"/>
              <a:t>}    }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Публичен метод за депозиране на пари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void deposit(double amount) {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if (amount &gt; 0) {    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	</a:t>
            </a:r>
            <a:r>
              <a:rPr lang="en-US" dirty="0"/>
              <a:t>balance += amount;     </a:t>
            </a:r>
            <a:r>
              <a:rPr lang="bg-BG" dirty="0"/>
              <a:t>	</a:t>
            </a:r>
            <a:r>
              <a:rPr lang="en-US" dirty="0"/>
              <a:t>}    }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Публичен метод за теглене на пари   </a:t>
            </a:r>
          </a:p>
          <a:p>
            <a:pPr marL="0" indent="0">
              <a:buNone/>
            </a:pPr>
            <a:r>
              <a:rPr lang="bg-BG" dirty="0"/>
              <a:t>	 </a:t>
            </a:r>
            <a:r>
              <a:rPr lang="en-US" dirty="0"/>
              <a:t>public void withdraw(double amount) {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if (amount &gt; 0 &amp;&amp; amount &lt;= balance) {           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		</a:t>
            </a:r>
            <a:r>
              <a:rPr lang="en-US" dirty="0"/>
              <a:t>balance -= amount;        }    }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Публичен метод за получаване на баланса   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double getBalance() {        return balance;    }}</a:t>
            </a:r>
            <a:endParaRPr lang="bg-B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D332C2-93AD-209B-C7A3-CC8534185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8436" y="2096656"/>
            <a:ext cx="5196175" cy="34174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Променливата balance е частна (private), което означава, че не може да бъде достъпвана или променяна директно от други класове.</a:t>
            </a:r>
          </a:p>
          <a:p>
            <a:pPr marL="0" indent="0">
              <a:buNone/>
            </a:pPr>
            <a:r>
              <a:rPr lang="ru-RU" dirty="0"/>
              <a:t>Методи като deposit(), withdraw(), и getBalance() предоставят контролирани пътища за взаимодействие с тази частна променлива.</a:t>
            </a:r>
          </a:p>
          <a:p>
            <a:pPr marL="0" indent="0">
              <a:buNone/>
            </a:pPr>
            <a:r>
              <a:rPr lang="ru-RU" dirty="0"/>
              <a:t>Така капсулацията осигурява интерфейс за манипулиране на данните, като едновременно с това предпазва данните от некоректни стойности или неоторизирани промени.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3902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A348-018A-2531-ABBE-D3AE730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24399"/>
          </a:xfrm>
        </p:spPr>
        <p:txBody>
          <a:bodyPr/>
          <a:lstStyle/>
          <a:p>
            <a:r>
              <a:rPr lang="bg-BG" b="1" dirty="0"/>
              <a:t>Наследяване</a:t>
            </a:r>
            <a:r>
              <a:rPr lang="en-US" b="1" dirty="0"/>
              <a:t>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70B04-E8FF-8DE7-5878-C210AD59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1477818"/>
            <a:ext cx="10534794" cy="443340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Наследяването е концепция от обектно-ориентираното програмиране (ООП), при която един клас (наречен дъщерен клас) може да наследява свойства и методи от друг клас (наречен родителски клас или базов клас).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Това позволява на програмите да използват код, който вече е дефиниран в родителския клас, без да е необходимо да се пише отново.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Основни понятия: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Родителски клас (Super class): Класът, от който се наследява.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Дъщерен клас (Sub class): Класът, който наследява от родителския клас.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 Java наследяването се реализира чрез ключовата дума </a:t>
            </a:r>
            <a:r>
              <a:rPr lang="ru-RU" i="1" dirty="0"/>
              <a:t>extends.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2766941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7DA085-466F-732F-2C80-00DD2219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710" y="624110"/>
            <a:ext cx="9952902" cy="724399"/>
          </a:xfrm>
        </p:spPr>
        <p:txBody>
          <a:bodyPr/>
          <a:lstStyle/>
          <a:p>
            <a:r>
              <a:rPr lang="ru-RU" b="1" dirty="0"/>
              <a:t>Какво се наследява?</a:t>
            </a:r>
            <a:endParaRPr lang="bg-BG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89B18B-1ABD-FEF0-0438-33FB3EFA6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474" y="1727199"/>
            <a:ext cx="6215687" cy="48490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Animal {    </a:t>
            </a:r>
          </a:p>
          <a:p>
            <a:pPr marL="0" indent="0">
              <a:buNone/>
            </a:pPr>
            <a:r>
              <a:rPr lang="en-US" dirty="0"/>
              <a:t>	void eat() {        </a:t>
            </a:r>
          </a:p>
          <a:p>
            <a:pPr marL="0" indent="0">
              <a:buNone/>
            </a:pPr>
            <a:r>
              <a:rPr lang="en-US" dirty="0"/>
              <a:t>		System.out.println("This animal eats food.");    }}</a:t>
            </a:r>
          </a:p>
          <a:p>
            <a:pPr marL="0" indent="0">
              <a:buNone/>
            </a:pPr>
            <a:r>
              <a:rPr lang="en-US" dirty="0"/>
              <a:t>class Dog extends Animal {    </a:t>
            </a:r>
          </a:p>
          <a:p>
            <a:pPr marL="0" indent="0">
              <a:buNone/>
            </a:pPr>
            <a:r>
              <a:rPr lang="en-US" dirty="0"/>
              <a:t>	void bark() {       </a:t>
            </a:r>
          </a:p>
          <a:p>
            <a:pPr marL="0" indent="0">
              <a:buNone/>
            </a:pPr>
            <a:r>
              <a:rPr lang="en-US" dirty="0"/>
              <a:t>		System.out.println("The dog barks.");    }}</a:t>
            </a:r>
          </a:p>
          <a:p>
            <a:pPr marL="0" indent="0">
              <a:buNone/>
            </a:pPr>
            <a:r>
              <a:rPr lang="en-US" dirty="0"/>
              <a:t>	public class Main {    </a:t>
            </a:r>
          </a:p>
          <a:p>
            <a:pPr marL="0" indent="0">
              <a:buNone/>
            </a:pPr>
            <a:r>
              <a:rPr lang="en-US" dirty="0"/>
              <a:t>	public static void main(String[] args) {        </a:t>
            </a:r>
          </a:p>
          <a:p>
            <a:pPr marL="0" indent="0">
              <a:buNone/>
            </a:pPr>
            <a:r>
              <a:rPr lang="en-US" dirty="0"/>
              <a:t>	Dog dog = new Dog();        </a:t>
            </a:r>
          </a:p>
          <a:p>
            <a:pPr marL="0" indent="0">
              <a:buNone/>
            </a:pPr>
            <a:r>
              <a:rPr lang="en-US" dirty="0"/>
              <a:t>	dog.eat();  // </a:t>
            </a:r>
            <a:r>
              <a:rPr lang="bg-BG" sz="1600" dirty="0"/>
              <a:t>Методът "</a:t>
            </a:r>
            <a:r>
              <a:rPr lang="en-US" sz="1600" dirty="0"/>
              <a:t>eat" </a:t>
            </a:r>
            <a:r>
              <a:rPr lang="bg-BG" sz="1600" dirty="0"/>
              <a:t>се наследява от </a:t>
            </a:r>
            <a:r>
              <a:rPr lang="en-US" sz="1600" dirty="0"/>
              <a:t>Animal        </a:t>
            </a:r>
          </a:p>
          <a:p>
            <a:pPr marL="0" indent="0">
              <a:buNone/>
            </a:pPr>
            <a:r>
              <a:rPr lang="en-US" dirty="0"/>
              <a:t>	dog.bark(); // </a:t>
            </a:r>
            <a:r>
              <a:rPr lang="bg-BG" sz="1400" dirty="0"/>
              <a:t>Методът "</a:t>
            </a:r>
            <a:r>
              <a:rPr lang="en-US" sz="1400" dirty="0"/>
              <a:t>bark" </a:t>
            </a:r>
            <a:r>
              <a:rPr lang="bg-BG" sz="1400" dirty="0"/>
              <a:t>е дефиниран в </a:t>
            </a:r>
            <a:r>
              <a:rPr lang="en-US" sz="1400" dirty="0"/>
              <a:t>Dog  </a:t>
            </a:r>
            <a:r>
              <a:rPr lang="en-US" dirty="0"/>
              <a:t>  }}</a:t>
            </a:r>
            <a:endParaRPr lang="bg-B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2188E-8AFC-8AEE-CD96-DD89CBF16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7329" y="1540188"/>
            <a:ext cx="5342998" cy="46937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Методи:</a:t>
            </a:r>
            <a:r>
              <a:rPr lang="ru-RU" dirty="0"/>
              <a:t> Дъщерният клас наследява публичните и защитените методи на родителския клас. 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Полета (параметри): </a:t>
            </a:r>
            <a:r>
              <a:rPr lang="ru-RU" dirty="0"/>
              <a:t>Дъщерният клас наследява полетата на родителския клас, но не може да ги достъпва директно, ако те са частни. За достъп се използват публични или защитени гетъри и сетъри.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Конструктори:</a:t>
            </a:r>
            <a:r>
              <a:rPr lang="ru-RU" dirty="0"/>
              <a:t> Конструкторите не се наследяват, но дъщерният клас може да извика конструктор на родителския клас с помощта на ключовата дума super.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Dog extends Animal {    </a:t>
            </a:r>
          </a:p>
          <a:p>
            <a:pPr marL="0" indent="0">
              <a:buNone/>
            </a:pPr>
            <a:r>
              <a:rPr lang="en-US" dirty="0"/>
              <a:t>	Dog() {        </a:t>
            </a:r>
            <a:r>
              <a:rPr lang="bg-BG" dirty="0"/>
              <a:t>// </a:t>
            </a:r>
            <a:r>
              <a:rPr lang="bg-BG" sz="1500" dirty="0"/>
              <a:t>Конструткор на класа </a:t>
            </a:r>
            <a:r>
              <a:rPr lang="en-US" sz="1500" dirty="0"/>
              <a:t>Dog</a:t>
            </a:r>
          </a:p>
          <a:p>
            <a:pPr marL="0" indent="0">
              <a:buNone/>
            </a:pPr>
            <a:r>
              <a:rPr lang="en-US" dirty="0"/>
              <a:t>		super(); // </a:t>
            </a:r>
            <a:r>
              <a:rPr lang="bg-BG" sz="1500" dirty="0"/>
              <a:t>Извиква конструктора на </a:t>
            </a:r>
            <a:r>
              <a:rPr lang="en-US" sz="1500" dirty="0"/>
              <a:t>Animal        </a:t>
            </a:r>
          </a:p>
          <a:p>
            <a:pPr marL="0" indent="0">
              <a:buNone/>
            </a:pPr>
            <a:r>
              <a:rPr lang="en-US" dirty="0"/>
              <a:t>		System.out.println("A dog is created.");    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59750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4541-667E-DAF9-25CF-C00796E7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739842"/>
          </a:xfrm>
        </p:spPr>
        <p:txBody>
          <a:bodyPr/>
          <a:lstStyle/>
          <a:p>
            <a:r>
              <a:rPr lang="bg-BG" b="1" dirty="0"/>
              <a:t>Софтуерни шаблони (</a:t>
            </a:r>
            <a:r>
              <a:rPr lang="en-US" b="1" dirty="0"/>
              <a:t>Design Patterns)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B5A3-5434-86F2-0E1C-0999D0F4E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564" y="1363952"/>
            <a:ext cx="10778836" cy="454727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Софтуерни шаблони (Design Patterns) са установени решения на повтарящи се проблеми в софтуерното проектиране. </a:t>
            </a:r>
          </a:p>
          <a:p>
            <a:r>
              <a:rPr lang="ru-RU" dirty="0"/>
              <a:t>Вместо да решаваме проблемите от нулата всеки път, можем да използваме шаблони, които предоставят готова структура, която да следваме. </a:t>
            </a:r>
          </a:p>
          <a:p>
            <a:r>
              <a:rPr lang="ru-RU" dirty="0"/>
              <a:t>Те са особено полезни за проектиране на гъвкав и мащаб</a:t>
            </a:r>
            <a:r>
              <a:rPr lang="bg-BG" dirty="0"/>
              <a:t>ен </a:t>
            </a:r>
            <a:r>
              <a:rPr lang="ru-RU" dirty="0"/>
              <a:t>код, като осигуряват решения за проблеми, които често срещаме при създаването на различни видове софтуерни приложения.</a:t>
            </a:r>
          </a:p>
          <a:p>
            <a:r>
              <a:rPr lang="bg-BG" dirty="0"/>
              <a:t>Типове шаблони: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b="1" dirty="0"/>
              <a:t>Шаблони за създаване на обекти</a:t>
            </a:r>
            <a:r>
              <a:rPr lang="en-US" b="1" dirty="0"/>
              <a:t> </a:t>
            </a:r>
            <a:r>
              <a:rPr lang="en-US" dirty="0"/>
              <a:t>(Creational Patterns</a:t>
            </a:r>
            <a:r>
              <a:rPr lang="bg-BG" dirty="0"/>
              <a:t>): Помагат при създаването на обекти. Пример: </a:t>
            </a:r>
            <a:r>
              <a:rPr lang="en-US" dirty="0"/>
              <a:t>Factory Pattern.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b="1" dirty="0"/>
              <a:t>Структурни шаблони</a:t>
            </a:r>
            <a:r>
              <a:rPr lang="en-US" b="1" dirty="0"/>
              <a:t> </a:t>
            </a:r>
            <a:r>
              <a:rPr lang="en-US" dirty="0"/>
              <a:t>(Structural Patterns</a:t>
            </a:r>
            <a:r>
              <a:rPr lang="bg-BG" dirty="0"/>
              <a:t>): Помагат при организирането и свързването на класовете. Пример: </a:t>
            </a:r>
            <a:r>
              <a:rPr lang="en-US" dirty="0"/>
              <a:t>Adapter.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b="1" dirty="0"/>
              <a:t>Поведенчески шаблони</a:t>
            </a:r>
            <a:r>
              <a:rPr lang="en-US" b="1" dirty="0"/>
              <a:t> </a:t>
            </a:r>
            <a:r>
              <a:rPr lang="en-US" dirty="0"/>
              <a:t>(Behavioral Patterns</a:t>
            </a:r>
            <a:r>
              <a:rPr lang="bg-BG" dirty="0"/>
              <a:t>): Описват взаимодействието между обектите. Пример: </a:t>
            </a:r>
            <a:r>
              <a:rPr lang="en-US" dirty="0"/>
              <a:t>Observer.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3482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D3D7-72FC-8D3C-03D8-B703965B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881417"/>
          </a:xfrm>
        </p:spPr>
        <p:txBody>
          <a:bodyPr/>
          <a:lstStyle/>
          <a:p>
            <a:r>
              <a:rPr lang="en-US" b="1" dirty="0"/>
              <a:t>Factory Pattern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8582-602C-56EB-8CE4-82F5D2489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1273" y="1838036"/>
            <a:ext cx="10381671" cy="4395854"/>
          </a:xfrm>
        </p:spPr>
        <p:txBody>
          <a:bodyPr>
            <a:normAutofit/>
          </a:bodyPr>
          <a:lstStyle/>
          <a:p>
            <a:r>
              <a:rPr lang="ru-RU" sz="2000" dirty="0"/>
              <a:t>Factory Pattern се използва за създаване на обекти, като предоставя интерфейс за създаването им, без да разкрива детайлите за тяхната имплементация. Целта на този шаблон е да избегнем твърдо кодиране (hard coding) на конкретни класове при създаването на обекти и вместо това да използваме единен начин за създаване на различни обекти.</a:t>
            </a:r>
          </a:p>
          <a:p>
            <a:r>
              <a:rPr lang="ru-RU" sz="2000" dirty="0"/>
              <a:t>Полезен е, когато имаме нужда да създаваме обекти, базирани на параметри (например тип или специфични свойства), които определят кой точно клас да се използва.</a:t>
            </a:r>
          </a:p>
          <a:p>
            <a:r>
              <a:rPr lang="ru-RU" sz="2000" dirty="0"/>
              <a:t>Фабричният клас е специален клас, който съдържа метод (или методи), отговорни за създаването на обекти. Той решава коя конкретна имплементация на даден интерфейс или абстрактен клас да създаде в зависимост от подадените параметри или условия.</a:t>
            </a:r>
          </a:p>
        </p:txBody>
      </p:sp>
    </p:spTree>
    <p:extLst>
      <p:ext uri="{BB962C8B-B14F-4D97-AF65-F5344CB8AC3E}">
        <p14:creationId xmlns:p14="http://schemas.microsoft.com/office/powerpoint/2010/main" val="3500843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6AD8C-2DB6-A09C-5A23-0A6D90092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5503" y="415636"/>
            <a:ext cx="4929188" cy="63730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interface Car {</a:t>
            </a:r>
          </a:p>
          <a:p>
            <a:pPr marL="0" indent="0">
              <a:buNone/>
            </a:pPr>
            <a:r>
              <a:rPr lang="en-US" sz="1600" dirty="0"/>
              <a:t>    void drive();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class Sedan implements Car {</a:t>
            </a:r>
          </a:p>
          <a:p>
            <a:pPr marL="0" indent="0">
              <a:buNone/>
            </a:pPr>
            <a:r>
              <a:rPr lang="en-US" sz="1600" dirty="0"/>
              <a:t>    public void drive() {</a:t>
            </a:r>
          </a:p>
          <a:p>
            <a:pPr marL="0" indent="0">
              <a:buNone/>
            </a:pPr>
            <a:r>
              <a:rPr lang="en-US" sz="1600" dirty="0"/>
              <a:t>        System.out.println("Driving a Sedan");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class SUV implements Car {</a:t>
            </a:r>
          </a:p>
          <a:p>
            <a:pPr marL="0" indent="0">
              <a:buNone/>
            </a:pPr>
            <a:r>
              <a:rPr lang="en-US" sz="1600" dirty="0"/>
              <a:t>    public void drive() {</a:t>
            </a:r>
          </a:p>
          <a:p>
            <a:pPr marL="0" indent="0">
              <a:buNone/>
            </a:pPr>
            <a:r>
              <a:rPr lang="en-US" sz="1600" dirty="0"/>
              <a:t>        System.out.println("Driving an SUV");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class Truck implements Car {</a:t>
            </a:r>
          </a:p>
          <a:p>
            <a:pPr marL="0" indent="0">
              <a:buNone/>
            </a:pPr>
            <a:r>
              <a:rPr lang="en-US" sz="1600" dirty="0"/>
              <a:t>    public void drive() {</a:t>
            </a:r>
          </a:p>
          <a:p>
            <a:pPr marL="0" indent="0">
              <a:buNone/>
            </a:pPr>
            <a:r>
              <a:rPr lang="en-US" sz="1600" dirty="0"/>
              <a:t>        System.out.println("Driving a Truck");    }}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bg-BG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715BA5-2A0C-AAA2-1687-8203CE9BD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3164" y="482928"/>
            <a:ext cx="5288538" cy="5892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class CarFactory {</a:t>
            </a:r>
          </a:p>
          <a:p>
            <a:pPr marL="0" indent="0">
              <a:buNone/>
            </a:pPr>
            <a:r>
              <a:rPr lang="en-US" sz="1600" dirty="0"/>
              <a:t>    public static Car </a:t>
            </a:r>
            <a:r>
              <a:rPr lang="en-US" sz="1600" dirty="0" err="1"/>
              <a:t>createCar</a:t>
            </a:r>
            <a:r>
              <a:rPr lang="en-US" sz="1600" dirty="0"/>
              <a:t>(String type) {</a:t>
            </a:r>
          </a:p>
          <a:p>
            <a:pPr marL="0" indent="0">
              <a:buNone/>
            </a:pPr>
            <a:r>
              <a:rPr lang="en-US" sz="1600" dirty="0"/>
              <a:t>        switch (type) {</a:t>
            </a:r>
          </a:p>
          <a:p>
            <a:pPr marL="0" indent="0">
              <a:buNone/>
            </a:pPr>
            <a:r>
              <a:rPr lang="en-US" sz="1600" dirty="0"/>
              <a:t>            case "Sedan": return new Sedan();</a:t>
            </a:r>
          </a:p>
          <a:p>
            <a:pPr marL="0" indent="0">
              <a:buNone/>
            </a:pPr>
            <a:r>
              <a:rPr lang="en-US" sz="1600" dirty="0"/>
              <a:t>            case "SUV": return new SUV();</a:t>
            </a:r>
          </a:p>
          <a:p>
            <a:pPr marL="0" indent="0">
              <a:buNone/>
            </a:pPr>
            <a:r>
              <a:rPr lang="en-US" sz="1600" dirty="0"/>
              <a:t>            case "Truck": return new Truck();</a:t>
            </a:r>
          </a:p>
          <a:p>
            <a:pPr marL="0" indent="0">
              <a:buNone/>
            </a:pPr>
            <a:r>
              <a:rPr lang="en-US" sz="1600" dirty="0"/>
              <a:t>            default: throw new IllegalArgumentException("Unknown car type");</a:t>
            </a:r>
          </a:p>
          <a:p>
            <a:pPr marL="0" indent="0">
              <a:buNone/>
            </a:pPr>
            <a:r>
              <a:rPr lang="en-US" sz="1600" dirty="0"/>
              <a:t>        }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// </a:t>
            </a:r>
            <a:r>
              <a:rPr lang="bg-BG" sz="1600" dirty="0"/>
              <a:t>Използване</a:t>
            </a:r>
          </a:p>
          <a:p>
            <a:pPr marL="0" indent="0">
              <a:buNone/>
            </a:pPr>
            <a:r>
              <a:rPr lang="en-US" sz="1600" dirty="0"/>
              <a:t>Car car = CarFactory.createCar("SUV");</a:t>
            </a:r>
          </a:p>
          <a:p>
            <a:pPr marL="0" indent="0">
              <a:buNone/>
            </a:pPr>
            <a:r>
              <a:rPr lang="en-US" sz="1600" dirty="0"/>
              <a:t>car.drive();  // Output: Driving an SUV</a:t>
            </a:r>
          </a:p>
          <a:p>
            <a:pPr marL="0" indent="0">
              <a:buNone/>
            </a:pP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336628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A110-F1E4-CFCA-4D19-B0F8C329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789054"/>
          </a:xfrm>
        </p:spPr>
        <p:txBody>
          <a:bodyPr/>
          <a:lstStyle/>
          <a:p>
            <a:r>
              <a:rPr lang="ru-RU" b="1" dirty="0"/>
              <a:t>Dependency Injection (DI)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15A7-CB5D-8E8E-E019-7D159D953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4" y="1634836"/>
            <a:ext cx="10396248" cy="4276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Dependency Injection (DI) е техника за предоставяне на зависимости на обект, вместо той сам да ги създава. Това прави класовете по-гъвкави и лесни за тестване, тъй като можем да „внедрим“ зависимости с различни имплементации без да променяме основния клас.</a:t>
            </a:r>
          </a:p>
          <a:p>
            <a:pPr marL="0" indent="0">
              <a:buNone/>
            </a:pPr>
            <a:r>
              <a:rPr lang="ru-RU" sz="1600" b="1" dirty="0"/>
              <a:t>Предимства: </a:t>
            </a:r>
            <a:r>
              <a:rPr lang="ru-RU" sz="1600" dirty="0"/>
              <a:t>Dependency Injection осигурява възможност за тестване с фалшиви обекти и улеснява промяната на класовете, когато има нови зависимости.</a:t>
            </a:r>
          </a:p>
          <a:p>
            <a:pPr marL="0" indent="0">
              <a:buNone/>
            </a:pPr>
            <a:r>
              <a:rPr lang="ru-RU" sz="1600" b="1" dirty="0"/>
              <a:t>Видове DI: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Конструкторна инжекция: Зависимостите се предават чрез конструктора на класа.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Методна инжекция: Зависимостите се предават чрез setter методи.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600" dirty="0"/>
              <a:t>Полева инжекция: Зависимостите се предават чрез директно присвояване на полета (често се използва в Spring).</a:t>
            </a:r>
          </a:p>
          <a:p>
            <a:pPr marL="0" indent="0">
              <a:buNone/>
            </a:pPr>
            <a:endParaRPr lang="bg-BG" sz="1600" i="1" dirty="0"/>
          </a:p>
        </p:txBody>
      </p:sp>
    </p:spTree>
    <p:extLst>
      <p:ext uri="{BB962C8B-B14F-4D97-AF65-F5344CB8AC3E}">
        <p14:creationId xmlns:p14="http://schemas.microsoft.com/office/powerpoint/2010/main" val="295784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DE43-CEDB-D540-686C-A56B506C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624110"/>
            <a:ext cx="9980612" cy="705926"/>
          </a:xfrm>
        </p:spPr>
        <p:txBody>
          <a:bodyPr/>
          <a:lstStyle/>
          <a:p>
            <a:r>
              <a:rPr lang="bg-BG" b="1" dirty="0"/>
              <a:t>Абстрактни класове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FECA-F63A-3136-7D0A-7AE961AD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1330036"/>
            <a:ext cx="11286836" cy="51261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1700" dirty="0"/>
              <a:t>Това е клас, който може да съдържа както абстрактни методи (без тяло), така и методи с имплементация.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700" dirty="0"/>
              <a:t>Не може да бъде инициализиран директно. Абстрактните класове са полезни, когато имаме основни методи или свойства, които всички подкласове трябва да наследят.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700" dirty="0"/>
              <a:t>Абстрактен клас не може да се инстанцира! Може само да се наследява.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700" dirty="0"/>
              <a:t>Ако даден клас наследи абстрактен клас, то той задължително трябва да имплементира абстрактните му методи или и той трябва да е абстрактен, ако остави дори и един от тях абстрактен.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i="1" dirty="0"/>
              <a:t>public abstract class NameClass{</a:t>
            </a:r>
          </a:p>
          <a:p>
            <a:pPr marL="0" indent="0">
              <a:buNone/>
            </a:pPr>
            <a:r>
              <a:rPr lang="en-US" sz="1700" i="1" dirty="0"/>
              <a:t>		public void someMethod(){</a:t>
            </a:r>
          </a:p>
          <a:p>
            <a:pPr marL="0" indent="0">
              <a:buNone/>
            </a:pPr>
            <a:r>
              <a:rPr lang="en-US" sz="1700" i="1" dirty="0"/>
              <a:t>		……………………………………..</a:t>
            </a:r>
          </a:p>
          <a:p>
            <a:pPr marL="0" indent="0">
              <a:buNone/>
            </a:pPr>
            <a:r>
              <a:rPr lang="en-US" sz="1700" i="1" dirty="0"/>
              <a:t>		}</a:t>
            </a:r>
          </a:p>
          <a:p>
            <a:pPr marL="0" indent="0">
              <a:buNone/>
            </a:pPr>
            <a:r>
              <a:rPr lang="en-US" sz="1700" i="1" dirty="0"/>
              <a:t>		public abstract void nameAbstractMethod();</a:t>
            </a:r>
          </a:p>
          <a:p>
            <a:pPr marL="0" indent="0">
              <a:buNone/>
            </a:pPr>
            <a:r>
              <a:rPr lang="en-US" sz="1700" i="1" dirty="0"/>
              <a:t>}</a:t>
            </a:r>
            <a:endParaRPr lang="ru-RU" sz="1700" i="1" dirty="0"/>
          </a:p>
          <a:p>
            <a:pPr marL="0" indent="0">
              <a:buNone/>
            </a:pPr>
            <a:endParaRPr lang="bg-BG" sz="1700" i="1" dirty="0"/>
          </a:p>
        </p:txBody>
      </p:sp>
    </p:spTree>
    <p:extLst>
      <p:ext uri="{BB962C8B-B14F-4D97-AF65-F5344CB8AC3E}">
        <p14:creationId xmlns:p14="http://schemas.microsoft.com/office/powerpoint/2010/main" val="2836338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B737-0102-5FF9-7227-8D7FB130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24399"/>
          </a:xfrm>
        </p:spPr>
        <p:txBody>
          <a:bodyPr/>
          <a:lstStyle/>
          <a:p>
            <a:r>
              <a:rPr lang="bg-BG" b="1" dirty="0"/>
              <a:t>Интерфейси 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C0290-CB4D-00C6-7EA1-C758A8CA9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55" y="1487055"/>
            <a:ext cx="10627157" cy="4424167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 не може да се инстанцира</a:t>
            </a:r>
            <a:r>
              <a:rPr lang="bg-BG" dirty="0"/>
              <a:t>.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 интерфейс може да има абстрактни и default методи.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 може да бъде имплементиран само от клас.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За да може клас да имплементира интерфейс, то интерфейсът трябва да е публичен, методите му също.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Интерфейсът не може да бъде деклариран с private, protected или transient.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По подразбиране всички методи на интерфейса са: public abstract.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Променливите на интерфейса са public static final.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Деклариране на интерфейс: Става с ключовата дума interface: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public interface NameInterface{ 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public abstract void method1();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bg-BG" dirty="0"/>
              <a:t>		</a:t>
            </a:r>
            <a:r>
              <a:rPr lang="en-US" dirty="0"/>
              <a:t>public abstract void method2();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}</a:t>
            </a:r>
            <a:endParaRPr lang="ru-RU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10381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D6D7-C14C-C408-0606-4B57A112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762" y="624110"/>
            <a:ext cx="9883849" cy="672500"/>
          </a:xfrm>
        </p:spPr>
        <p:txBody>
          <a:bodyPr/>
          <a:lstStyle/>
          <a:p>
            <a:r>
              <a:rPr lang="bg-BG" b="1" dirty="0"/>
              <a:t>Декларация на интерфейс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6EE56-D2E9-204D-240F-E34130AA6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2781" y="1533676"/>
            <a:ext cx="5940295" cy="47002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dirty="0"/>
              <a:t>[модификатор_за_достъп] </a:t>
            </a:r>
            <a:r>
              <a:rPr lang="en-US" dirty="0"/>
              <a:t>interface </a:t>
            </a:r>
            <a:r>
              <a:rPr lang="bg-BG" dirty="0"/>
              <a:t>ИмеНаИнтерфейс {</a:t>
            </a:r>
          </a:p>
          <a:p>
            <a:pPr marL="0" indent="0">
              <a:buNone/>
            </a:pPr>
            <a:r>
              <a:rPr lang="bg-BG" dirty="0"/>
              <a:t>    // 1. Константи (по желание)</a:t>
            </a:r>
          </a:p>
          <a:p>
            <a:pPr marL="0" indent="0">
              <a:buNone/>
            </a:pPr>
            <a:r>
              <a:rPr lang="bg-BG" dirty="0"/>
              <a:t>    [</a:t>
            </a:r>
            <a:r>
              <a:rPr lang="en-US" dirty="0"/>
              <a:t>public static final] </a:t>
            </a:r>
            <a:r>
              <a:rPr lang="bg-BG" dirty="0"/>
              <a:t>тип име = стойност;</a:t>
            </a:r>
          </a:p>
          <a:p>
            <a:pPr marL="0" indent="0">
              <a:buNone/>
            </a:pPr>
            <a:r>
              <a:rPr lang="bg-BG" dirty="0"/>
              <a:t>    </a:t>
            </a:r>
            <a:r>
              <a:rPr lang="bg-BG" b="1" dirty="0"/>
              <a:t>// 2. Абстрактни методи (задължителни за имплементация)</a:t>
            </a:r>
          </a:p>
          <a:p>
            <a:pPr marL="0" indent="0">
              <a:buNone/>
            </a:pPr>
            <a:r>
              <a:rPr lang="bg-BG" dirty="0"/>
              <a:t>    [</a:t>
            </a:r>
            <a:r>
              <a:rPr lang="en-US" dirty="0"/>
              <a:t>public abstract] </a:t>
            </a:r>
            <a:r>
              <a:rPr lang="bg-BG" dirty="0"/>
              <a:t>тип_връщане имеМетод(параметри);</a:t>
            </a:r>
          </a:p>
          <a:p>
            <a:pPr marL="0" indent="0">
              <a:buNone/>
            </a:pPr>
            <a:r>
              <a:rPr lang="bg-BG" dirty="0"/>
              <a:t>    // 3. </a:t>
            </a:r>
            <a:r>
              <a:rPr lang="en-US" dirty="0"/>
              <a:t>Default </a:t>
            </a:r>
            <a:r>
              <a:rPr lang="bg-BG" dirty="0"/>
              <a:t>методи (с тяло) – от </a:t>
            </a:r>
            <a:r>
              <a:rPr lang="en-US" dirty="0"/>
              <a:t>Java 8 </a:t>
            </a:r>
            <a:r>
              <a:rPr lang="bg-BG" dirty="0"/>
              <a:t>нататък</a:t>
            </a:r>
          </a:p>
          <a:p>
            <a:pPr marL="0" indent="0">
              <a:buNone/>
            </a:pPr>
            <a:r>
              <a:rPr lang="bg-BG" dirty="0"/>
              <a:t>    </a:t>
            </a:r>
            <a:r>
              <a:rPr lang="en-US" dirty="0"/>
              <a:t>default </a:t>
            </a:r>
            <a:r>
              <a:rPr lang="bg-BG" dirty="0"/>
              <a:t>тип_връщане имеМетод(параметри) {</a:t>
            </a:r>
          </a:p>
          <a:p>
            <a:pPr marL="0" indent="0">
              <a:buNone/>
            </a:pPr>
            <a:r>
              <a:rPr lang="bg-BG" dirty="0"/>
              <a:t>        // реализация</a:t>
            </a:r>
          </a:p>
          <a:p>
            <a:pPr marL="0" indent="0">
              <a:buNone/>
            </a:pPr>
            <a:r>
              <a:rPr lang="bg-BG" dirty="0"/>
              <a:t>    }</a:t>
            </a:r>
          </a:p>
          <a:p>
            <a:pPr marL="0" indent="0">
              <a:buNone/>
            </a:pPr>
            <a:r>
              <a:rPr lang="bg-BG" dirty="0"/>
              <a:t>    // 4. </a:t>
            </a:r>
            <a:r>
              <a:rPr lang="en-US" dirty="0"/>
              <a:t>Static </a:t>
            </a:r>
            <a:r>
              <a:rPr lang="bg-BG" dirty="0"/>
              <a:t>методи – от </a:t>
            </a:r>
            <a:r>
              <a:rPr lang="en-US" dirty="0"/>
              <a:t>Java 8 </a:t>
            </a:r>
            <a:r>
              <a:rPr lang="bg-BG" dirty="0"/>
              <a:t>нататък</a:t>
            </a:r>
          </a:p>
          <a:p>
            <a:pPr marL="0" indent="0">
              <a:buNone/>
            </a:pPr>
            <a:r>
              <a:rPr lang="bg-BG" dirty="0"/>
              <a:t>    </a:t>
            </a:r>
            <a:r>
              <a:rPr lang="en-US" dirty="0"/>
              <a:t>static </a:t>
            </a:r>
            <a:r>
              <a:rPr lang="bg-BG" dirty="0"/>
              <a:t>тип_връщане имеМетод(параметри) {</a:t>
            </a:r>
          </a:p>
          <a:p>
            <a:pPr marL="0" indent="0">
              <a:buNone/>
            </a:pPr>
            <a:r>
              <a:rPr lang="bg-BG" dirty="0"/>
              <a:t>        // реализация</a:t>
            </a:r>
          </a:p>
          <a:p>
            <a:pPr marL="0" indent="0">
              <a:buNone/>
            </a:pPr>
            <a:r>
              <a:rPr lang="bg-BG" dirty="0"/>
              <a:t>    }</a:t>
            </a:r>
          </a:p>
          <a:p>
            <a:pPr marL="0" indent="0">
              <a:buNone/>
            </a:pPr>
            <a:r>
              <a:rPr lang="bg-BG" dirty="0"/>
              <a:t>}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C4FB4-748F-B722-0B80-EC23FBF5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3076" y="1567543"/>
            <a:ext cx="5134105" cy="43363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interface</a:t>
            </a:r>
            <a:r>
              <a:rPr lang="bg-BG" b="1" dirty="0"/>
              <a:t> </a:t>
            </a:r>
            <a:r>
              <a:rPr lang="bg-BG" dirty="0"/>
              <a:t>– ключова дума за създаване на интерфейс</a:t>
            </a:r>
          </a:p>
          <a:p>
            <a:pPr marL="0" indent="0">
              <a:buNone/>
            </a:pPr>
            <a:r>
              <a:rPr lang="bg-BG" b="1" dirty="0"/>
              <a:t>модификатор_за_достъп </a:t>
            </a:r>
            <a:r>
              <a:rPr lang="bg-BG" dirty="0"/>
              <a:t>– обикновено е </a:t>
            </a:r>
            <a:r>
              <a:rPr lang="en-US" b="1" dirty="0"/>
              <a:t>public </a:t>
            </a:r>
            <a:r>
              <a:rPr lang="bg-BG" dirty="0"/>
              <a:t>или се пропуска (тогава е достъпен само в пакета)</a:t>
            </a:r>
          </a:p>
          <a:p>
            <a:pPr marL="0" indent="0">
              <a:buNone/>
            </a:pPr>
            <a:r>
              <a:rPr lang="bg-BG" b="1" dirty="0"/>
              <a:t>константи </a:t>
            </a:r>
            <a:r>
              <a:rPr lang="bg-BG" dirty="0"/>
              <a:t>– всички са по подразбиране </a:t>
            </a:r>
            <a:r>
              <a:rPr lang="en-US" dirty="0"/>
              <a:t>public static final</a:t>
            </a:r>
          </a:p>
          <a:p>
            <a:pPr marL="0" indent="0">
              <a:buNone/>
            </a:pPr>
            <a:r>
              <a:rPr lang="bg-BG" b="1" dirty="0"/>
              <a:t>абстрактни методи </a:t>
            </a:r>
            <a:r>
              <a:rPr lang="bg-BG" dirty="0"/>
              <a:t>– всички са по подразбиране </a:t>
            </a:r>
            <a:r>
              <a:rPr lang="en-US" dirty="0"/>
              <a:t>public abstract</a:t>
            </a:r>
            <a:r>
              <a:rPr lang="bg-BG" dirty="0"/>
              <a:t>. Извикват се чрез обект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default </a:t>
            </a:r>
            <a:r>
              <a:rPr lang="bg-BG" b="1" dirty="0"/>
              <a:t>методи </a:t>
            </a:r>
            <a:r>
              <a:rPr lang="bg-BG" dirty="0"/>
              <a:t>– имат тяло; могат да се променят в класа. Извикват се чрез обект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static </a:t>
            </a:r>
            <a:r>
              <a:rPr lang="bg-BG" b="1" dirty="0"/>
              <a:t>методи </a:t>
            </a:r>
            <a:r>
              <a:rPr lang="bg-BG" dirty="0"/>
              <a:t>– извикват се директно чрез името на интерфейса и не се променят в класа</a:t>
            </a:r>
          </a:p>
          <a:p>
            <a:pPr marL="0" indent="0">
              <a:buNone/>
            </a:pPr>
            <a:r>
              <a:rPr lang="bg-BG" b="1" dirty="0"/>
              <a:t>Обекти </a:t>
            </a:r>
            <a:r>
              <a:rPr lang="bg-BG" dirty="0"/>
              <a:t>– не могат да се създават от интерфейс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B6F6-DBCE-42DA-586D-3A991E28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1" y="624110"/>
            <a:ext cx="9908041" cy="677338"/>
          </a:xfrm>
        </p:spPr>
        <p:txBody>
          <a:bodyPr/>
          <a:lstStyle/>
          <a:p>
            <a:r>
              <a:rPr lang="bg-BG" dirty="0"/>
              <a:t>Къде декларираме интерфейс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E1DA6A-20A2-D679-CFA9-B12AD22E1F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38300" y="2230362"/>
          <a:ext cx="89154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68572934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04953639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702192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Място на интерфейса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Къде се използва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dirty="0"/>
                        <a:t>Особености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52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 отделен файл (MyInterface.java)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Навсякъде в проекта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Най-често срещаният и препоръчителен вариант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144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Като вътрешен интерфейс в клас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Само вътре в класа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Подходящ за специализирани случаи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11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 същия файл с други класове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малки програми или примери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Само един елемент в файла може да е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463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364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AF7C-AF6A-8C39-7395-35337414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1" y="624110"/>
            <a:ext cx="9908041" cy="711204"/>
          </a:xfrm>
        </p:spPr>
        <p:txBody>
          <a:bodyPr/>
          <a:lstStyle/>
          <a:p>
            <a:r>
              <a:rPr lang="bg-BG" b="1" dirty="0"/>
              <a:t>Полета на интерфейс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B065-9C81-6A8E-E3FD-B1C6BA65A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467" y="2133600"/>
            <a:ext cx="9845145" cy="3777622"/>
          </a:xfrm>
        </p:spPr>
        <p:txBody>
          <a:bodyPr/>
          <a:lstStyle/>
          <a:p>
            <a:r>
              <a:rPr lang="ru-RU" dirty="0"/>
              <a:t>Константите са стойности, които не се променят по време на изпълнение.</a:t>
            </a:r>
          </a:p>
          <a:p>
            <a:r>
              <a:rPr lang="ru-RU" dirty="0"/>
              <a:t>В интерфейсите всички променливи са по подразбиране public static final.</a:t>
            </a:r>
          </a:p>
          <a:p>
            <a:r>
              <a:rPr lang="ru-RU" dirty="0"/>
              <a:t>Използват се за фиксирани параметри, които са общи за всички класове, имплементиращи интерфейса.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9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FA20-553B-99BD-F87A-AFE5BE22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79817"/>
          </a:xfrm>
        </p:spPr>
        <p:txBody>
          <a:bodyPr/>
          <a:lstStyle/>
          <a:p>
            <a:r>
              <a:rPr lang="bg-BG" b="1" dirty="0"/>
              <a:t>Имплементация на интерфейс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4295-328A-08DB-7D02-8815ABED6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09" y="1717963"/>
            <a:ext cx="9337963" cy="4405745"/>
          </a:xfrm>
        </p:spPr>
        <p:txBody>
          <a:bodyPr>
            <a:normAutofit/>
          </a:bodyPr>
          <a:lstStyle/>
          <a:p>
            <a:r>
              <a:rPr lang="ru-RU" sz="1700" i="1" dirty="0"/>
              <a:t>Имплементиране (implements) на интерфейс означава даден клас да реализира всички негови методи.</a:t>
            </a:r>
          </a:p>
          <a:p>
            <a:r>
              <a:rPr lang="ru-RU" sz="1600" b="1" dirty="0"/>
              <a:t>Синтаксис:</a:t>
            </a:r>
          </a:p>
          <a:p>
            <a:pPr marL="0" indent="0">
              <a:buNone/>
            </a:pPr>
            <a:r>
              <a:rPr lang="ru-RU" dirty="0"/>
              <a:t>class ИмеНаКлас </a:t>
            </a:r>
            <a:r>
              <a:rPr lang="ru-RU" b="1" dirty="0"/>
              <a:t>implements</a:t>
            </a:r>
            <a:r>
              <a:rPr lang="ru-RU" dirty="0"/>
              <a:t> ИмеНаИнтерфейс {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i="1" dirty="0"/>
              <a:t>// тук се пишат реализациите на методите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bg-BG" sz="1700" i="1" dirty="0"/>
          </a:p>
        </p:txBody>
      </p:sp>
    </p:spTree>
    <p:extLst>
      <p:ext uri="{BB962C8B-B14F-4D97-AF65-F5344CB8AC3E}">
        <p14:creationId xmlns:p14="http://schemas.microsoft.com/office/powerpoint/2010/main" val="1689157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3FD4-CFB9-939B-051B-FA6545A7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924" y="624110"/>
            <a:ext cx="9888687" cy="696690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Имплементиране на няколко интерфейса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8A55-BDBA-6453-6037-29CE60358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0476" y="2360990"/>
            <a:ext cx="5432295" cy="37776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i="1" dirty="0"/>
              <a:t>interface Flyable {    void fly();}</a:t>
            </a:r>
          </a:p>
          <a:p>
            <a:pPr marL="0" indent="0">
              <a:buNone/>
            </a:pPr>
            <a:r>
              <a:rPr lang="en-US" sz="1600" i="1" dirty="0"/>
              <a:t>interface Swimmable {    void swim();}</a:t>
            </a:r>
          </a:p>
          <a:p>
            <a:pPr marL="0" indent="0">
              <a:buNone/>
            </a:pPr>
            <a:r>
              <a:rPr lang="en-US" sz="1600" i="1" dirty="0"/>
              <a:t>class Duck implements </a:t>
            </a:r>
            <a:r>
              <a:rPr lang="en-US" sz="1600" b="1" i="1" dirty="0"/>
              <a:t>Flyable, Swimmable </a:t>
            </a:r>
            <a:r>
              <a:rPr lang="en-US" sz="1600" i="1" dirty="0"/>
              <a:t>{</a:t>
            </a:r>
          </a:p>
          <a:p>
            <a:pPr marL="0" indent="0">
              <a:buNone/>
            </a:pPr>
            <a:r>
              <a:rPr lang="en-US" sz="1600" i="1" dirty="0"/>
              <a:t>    @Override</a:t>
            </a:r>
          </a:p>
          <a:p>
            <a:pPr marL="0" indent="0">
              <a:buNone/>
            </a:pPr>
            <a:r>
              <a:rPr lang="en-US" sz="1600" i="1" dirty="0"/>
              <a:t>    public void fly() {</a:t>
            </a:r>
          </a:p>
          <a:p>
            <a:pPr marL="0" indent="0">
              <a:buNone/>
            </a:pPr>
            <a:r>
              <a:rPr lang="en-US" sz="1600" i="1" dirty="0"/>
              <a:t>        </a:t>
            </a:r>
            <a:r>
              <a:rPr lang="en-US" sz="1600" i="1" dirty="0" err="1"/>
              <a:t>System.out.println</a:t>
            </a:r>
            <a:r>
              <a:rPr lang="en-US" sz="1600" i="1" dirty="0"/>
              <a:t>("</a:t>
            </a:r>
            <a:r>
              <a:rPr lang="bg-BG" sz="1600" i="1" dirty="0"/>
              <a:t>Патицата лети.");</a:t>
            </a:r>
          </a:p>
          <a:p>
            <a:pPr marL="0" indent="0">
              <a:buNone/>
            </a:pPr>
            <a:r>
              <a:rPr lang="bg-BG" sz="1600" i="1" dirty="0"/>
              <a:t>    }</a:t>
            </a:r>
          </a:p>
          <a:p>
            <a:pPr marL="0" indent="0">
              <a:buNone/>
            </a:pPr>
            <a:r>
              <a:rPr lang="bg-BG" sz="1600" i="1" dirty="0"/>
              <a:t>    @</a:t>
            </a:r>
            <a:r>
              <a:rPr lang="en-US" sz="1600" i="1" dirty="0"/>
              <a:t>Override</a:t>
            </a:r>
          </a:p>
          <a:p>
            <a:pPr marL="0" indent="0">
              <a:buNone/>
            </a:pPr>
            <a:r>
              <a:rPr lang="en-US" sz="1600" i="1" dirty="0"/>
              <a:t>    public void swim() {</a:t>
            </a:r>
          </a:p>
          <a:p>
            <a:pPr marL="0" indent="0">
              <a:buNone/>
            </a:pPr>
            <a:r>
              <a:rPr lang="en-US" sz="1600" i="1" dirty="0"/>
              <a:t>        </a:t>
            </a:r>
            <a:r>
              <a:rPr lang="en-US" sz="1600" i="1" dirty="0" err="1"/>
              <a:t>System.out.println</a:t>
            </a:r>
            <a:r>
              <a:rPr lang="en-US" sz="1600" i="1" dirty="0"/>
              <a:t>("</a:t>
            </a:r>
            <a:r>
              <a:rPr lang="bg-BG" sz="1600" i="1" dirty="0"/>
              <a:t>Патицата плува.");</a:t>
            </a:r>
          </a:p>
          <a:p>
            <a:pPr marL="0" indent="0">
              <a:buNone/>
            </a:pPr>
            <a:r>
              <a:rPr lang="bg-BG" sz="1600" i="1" dirty="0"/>
              <a:t>    }</a:t>
            </a:r>
          </a:p>
          <a:p>
            <a:pPr marL="0" indent="0">
              <a:buNone/>
            </a:pPr>
            <a:r>
              <a:rPr lang="bg-BG" sz="1600" i="1" dirty="0"/>
              <a:t>}</a:t>
            </a:r>
          </a:p>
          <a:p>
            <a:pPr marL="0" indent="0">
              <a:buNone/>
            </a:pPr>
            <a:endParaRPr lang="bg-BG" sz="16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C2F3F-4FD9-DB37-2ED1-183EE694E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9947" y="2360990"/>
            <a:ext cx="4313864" cy="37776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public class Main {</a:t>
            </a:r>
          </a:p>
          <a:p>
            <a:pPr marL="0" indent="0">
              <a:buNone/>
            </a:pPr>
            <a:r>
              <a:rPr lang="en-US" i="1" dirty="0"/>
              <a:t>    public static void main(String[] </a:t>
            </a:r>
            <a:r>
              <a:rPr lang="en-US" i="1" dirty="0" err="1"/>
              <a:t>args</a:t>
            </a:r>
            <a:r>
              <a:rPr lang="en-US" i="1" dirty="0"/>
              <a:t>) {</a:t>
            </a:r>
          </a:p>
          <a:p>
            <a:pPr marL="0" indent="0">
              <a:buNone/>
            </a:pPr>
            <a:r>
              <a:rPr lang="en-US" i="1" dirty="0"/>
              <a:t>        Duck d = new Duck();</a:t>
            </a:r>
          </a:p>
          <a:p>
            <a:pPr marL="0" indent="0">
              <a:buNone/>
            </a:pPr>
            <a:r>
              <a:rPr lang="en-US" i="1" dirty="0"/>
              <a:t>        </a:t>
            </a:r>
            <a:r>
              <a:rPr lang="en-US" i="1" dirty="0" err="1"/>
              <a:t>d.fly</a:t>
            </a:r>
            <a:r>
              <a:rPr lang="en-US" i="1" dirty="0"/>
              <a:t>();</a:t>
            </a:r>
          </a:p>
          <a:p>
            <a:pPr marL="0" indent="0">
              <a:buNone/>
            </a:pPr>
            <a:r>
              <a:rPr lang="en-US" i="1" dirty="0"/>
              <a:t>        </a:t>
            </a:r>
            <a:r>
              <a:rPr lang="en-US" i="1" dirty="0" err="1"/>
              <a:t>d.swim</a:t>
            </a:r>
            <a:r>
              <a:rPr lang="en-US" i="1" dirty="0"/>
              <a:t>();</a:t>
            </a:r>
          </a:p>
          <a:p>
            <a:pPr marL="0" indent="0">
              <a:buNone/>
            </a:pPr>
            <a:r>
              <a:rPr lang="en-US" i="1" dirty="0"/>
              <a:t>    }</a:t>
            </a:r>
          </a:p>
          <a:p>
            <a:pPr marL="0" indent="0">
              <a:buNone/>
            </a:pPr>
            <a:r>
              <a:rPr lang="en-US" i="1" dirty="0"/>
              <a:t>}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72437-E9E1-9F60-50E6-821068E8222B}"/>
              </a:ext>
            </a:extLst>
          </p:cNvPr>
          <p:cNvSpPr txBox="1">
            <a:spLocks/>
          </p:cNvSpPr>
          <p:nvPr/>
        </p:nvSpPr>
        <p:spPr>
          <a:xfrm>
            <a:off x="1565124" y="1279672"/>
            <a:ext cx="9888687" cy="6966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bg-BG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E5DFA-2B4B-E842-3591-0CE7D7E52C93}"/>
              </a:ext>
            </a:extLst>
          </p:cNvPr>
          <p:cNvSpPr txBox="1"/>
          <p:nvPr/>
        </p:nvSpPr>
        <p:spPr>
          <a:xfrm>
            <a:off x="1330476" y="1225681"/>
            <a:ext cx="9995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1" dirty="0"/>
              <a:t>Java позволява множествена имплементация — един клас може да имплементира повече от един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232302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4184-3065-5DA3-409D-18C0178A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2" y="624110"/>
            <a:ext cx="9908040" cy="711204"/>
          </a:xfrm>
        </p:spPr>
        <p:txBody>
          <a:bodyPr>
            <a:normAutofit/>
          </a:bodyPr>
          <a:lstStyle/>
          <a:p>
            <a:r>
              <a:rPr lang="bg-BG" b="1" dirty="0"/>
              <a:t>Имплементиране + Наследяване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F94C3-F42E-D392-EC87-63FD9BEAA8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7505" y="2133600"/>
            <a:ext cx="5035571" cy="41801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Animal {</a:t>
            </a:r>
          </a:p>
          <a:p>
            <a:pPr marL="0" indent="0">
              <a:buNone/>
            </a:pPr>
            <a:r>
              <a:rPr lang="en-US" dirty="0"/>
              <a:t>    void eat()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bg-BG" dirty="0"/>
              <a:t>Животното яде.");</a:t>
            </a:r>
          </a:p>
          <a:p>
            <a:pPr marL="0" indent="0">
              <a:buNone/>
            </a:pPr>
            <a:r>
              <a:rPr lang="bg-BG" dirty="0"/>
              <a:t>    }</a:t>
            </a:r>
          </a:p>
          <a:p>
            <a:pPr marL="0" indent="0">
              <a:buNone/>
            </a:pPr>
            <a:r>
              <a:rPr lang="bg-BG" dirty="0"/>
              <a:t>}</a:t>
            </a:r>
          </a:p>
          <a:p>
            <a:pPr marL="0" indent="0">
              <a:buNone/>
            </a:pPr>
            <a:r>
              <a:rPr lang="en-US" dirty="0"/>
              <a:t>interface Runnable {</a:t>
            </a:r>
          </a:p>
          <a:p>
            <a:pPr marL="0" indent="0">
              <a:buNone/>
            </a:pPr>
            <a:r>
              <a:rPr lang="en-US" dirty="0"/>
              <a:t>    void run();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Dog extends Animal implements Runnable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run()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bg-BG" dirty="0"/>
              <a:t>Кучето тича.");</a:t>
            </a:r>
          </a:p>
          <a:p>
            <a:pPr marL="0" indent="0">
              <a:buNone/>
            </a:pPr>
            <a:r>
              <a:rPr lang="bg-BG" dirty="0"/>
              <a:t>    }</a:t>
            </a:r>
          </a:p>
          <a:p>
            <a:pPr marL="0" indent="0">
              <a:buNone/>
            </a:pPr>
            <a:r>
              <a:rPr lang="bg-BG" dirty="0"/>
              <a:t>}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392BA-E388-5141-84AC-615D84CC67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Dog d = new Dog();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d.eat</a:t>
            </a:r>
            <a:r>
              <a:rPr lang="en-US" dirty="0"/>
              <a:t>(); // </a:t>
            </a:r>
            <a:r>
              <a:rPr lang="bg-BG" dirty="0"/>
              <a:t>метод от родителския клас </a:t>
            </a:r>
            <a:r>
              <a:rPr lang="en-US" dirty="0"/>
              <a:t>Animal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d.run</a:t>
            </a:r>
            <a:r>
              <a:rPr lang="en-US" dirty="0"/>
              <a:t>(); // </a:t>
            </a:r>
            <a:r>
              <a:rPr lang="bg-BG" dirty="0"/>
              <a:t>метод от интерфейса </a:t>
            </a:r>
            <a:r>
              <a:rPr lang="en-US" dirty="0"/>
              <a:t>Runnable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0D0273-B0A6-676E-2AFF-AE9B15CC5294}"/>
              </a:ext>
            </a:extLst>
          </p:cNvPr>
          <p:cNvSpPr txBox="1">
            <a:spLocks/>
          </p:cNvSpPr>
          <p:nvPr/>
        </p:nvSpPr>
        <p:spPr>
          <a:xfrm>
            <a:off x="861181" y="1245805"/>
            <a:ext cx="10679717" cy="711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i="1" dirty="0"/>
              <a:t>Клас може да наследява друг клас и едновременно да имплементира интерфейси.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106199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34A2-BC66-F83E-0E10-8B1E18F6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E560-6767-BAEF-429E-33845DEC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24399"/>
          </a:xfrm>
        </p:spPr>
        <p:txBody>
          <a:bodyPr/>
          <a:lstStyle/>
          <a:p>
            <a:r>
              <a:rPr lang="bg-BG" b="1" dirty="0"/>
              <a:t>Обощено за интерфейсите 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B743-F517-890D-8AF5-5F40D7489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55" y="1487055"/>
            <a:ext cx="10627157" cy="51701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Интерфейсът описва какво трябва да може даден клас, но не казва как се прави това.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 не може да се инстанцира</a:t>
            </a:r>
            <a:r>
              <a:rPr lang="bg-BG" dirty="0"/>
              <a:t>.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 интерфейс може да има абстрактни и default методи.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 може да бъде имплементиран само от клас.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За да може клас да имплементира интерфейс, то интерфейсът трябва да е публичен, методите му също.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Интерфейсът не може да бъде деклариран с private, protected или transient.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По подразбиране всички методи на интерфейса са: public abstract.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Променливите на интерфейса са public static final.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Деклариране на интерфейс: Става с ключовата дума interface:</a:t>
            </a:r>
          </a:p>
          <a:p>
            <a:pPr marL="0" indent="0">
              <a:buNone/>
            </a:pPr>
            <a:r>
              <a:rPr lang="bg-BG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04554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19FA-7943-D893-D96E-8E1D665E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Какво научих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BF5BE-3728-7EE7-446A-CAB350FB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Какво са класове и обекти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Софтуерни шаблони.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Factory pattern. </a:t>
            </a:r>
            <a:endParaRPr kumimoji="0" lang="bg-B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Dependency injection. </a:t>
            </a:r>
            <a:endParaRPr kumimoji="0" lang="bg-B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Работа с абстрактни класове и интерфейси.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61844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15017</TotalTime>
  <Words>2840</Words>
  <Application>Microsoft Office PowerPoint</Application>
  <PresentationFormat>Widescreen</PresentationFormat>
  <Paragraphs>335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Century Gothic</vt:lpstr>
      <vt:lpstr>Wingdings</vt:lpstr>
      <vt:lpstr>Wingdings 3</vt:lpstr>
      <vt:lpstr>Wisp</vt:lpstr>
      <vt:lpstr>Упражнение 4:  Софтуерни шаблони. Factory pattern. Dependency injection. Работа с абстрактни класове и интерфейси. </vt:lpstr>
      <vt:lpstr>Да си припомним какво е:</vt:lpstr>
      <vt:lpstr>Упражнението днес:</vt:lpstr>
      <vt:lpstr>Какво е клас? </vt:lpstr>
      <vt:lpstr>Какво е обект? </vt:lpstr>
      <vt:lpstr>Конструктори</vt:lpstr>
      <vt:lpstr>Разлики между клас и обект </vt:lpstr>
      <vt:lpstr>Полета и методи на класа </vt:lpstr>
      <vt:lpstr>Достъп до членовете на класа</vt:lpstr>
      <vt:lpstr>Капсулация (Encapsulation)</vt:lpstr>
      <vt:lpstr>PowerPoint Presentation</vt:lpstr>
      <vt:lpstr>Наследяване </vt:lpstr>
      <vt:lpstr>Какво се наследява?</vt:lpstr>
      <vt:lpstr>Софтуерни шаблони (Design Patterns) </vt:lpstr>
      <vt:lpstr>Factory Pattern</vt:lpstr>
      <vt:lpstr>PowerPoint Presentation</vt:lpstr>
      <vt:lpstr>Dependency Injection (DI) </vt:lpstr>
      <vt:lpstr>Абстрактни класове</vt:lpstr>
      <vt:lpstr>Интерфейси </vt:lpstr>
      <vt:lpstr>Декларация на интерфейс</vt:lpstr>
      <vt:lpstr>Къде декларираме интерфейс</vt:lpstr>
      <vt:lpstr>Полета на интерфейс</vt:lpstr>
      <vt:lpstr>Имплементация на интерфейс</vt:lpstr>
      <vt:lpstr>Имплементиране на няколко интерфейса</vt:lpstr>
      <vt:lpstr>Имплементиране + Наследяване</vt:lpstr>
      <vt:lpstr>Обощено за интерфейсите </vt:lpstr>
      <vt:lpstr>Какво научих днес: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Лилия Андонова</dc:creator>
  <cp:lastModifiedBy>Лилия Андонова</cp:lastModifiedBy>
  <cp:revision>49</cp:revision>
  <dcterms:created xsi:type="dcterms:W3CDTF">2024-10-04T03:41:48Z</dcterms:created>
  <dcterms:modified xsi:type="dcterms:W3CDTF">2025-10-22T17:08:35Z</dcterms:modified>
</cp:coreProperties>
</file>