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56" r:id="rId2"/>
    <p:sldId id="284" r:id="rId3"/>
    <p:sldId id="257" r:id="rId4"/>
    <p:sldId id="28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83" r:id="rId16"/>
    <p:sldId id="268" r:id="rId17"/>
    <p:sldId id="286" r:id="rId18"/>
    <p:sldId id="269" r:id="rId19"/>
    <p:sldId id="270" r:id="rId20"/>
    <p:sldId id="271" r:id="rId21"/>
    <p:sldId id="273" r:id="rId22"/>
    <p:sldId id="274" r:id="rId23"/>
    <p:sldId id="275" r:id="rId24"/>
    <p:sldId id="276" r:id="rId25"/>
    <p:sldId id="272" r:id="rId26"/>
    <p:sldId id="277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5C7F245-3DC3-403E-A255-05DA9421FDB3}">
          <p14:sldIdLst>
            <p14:sldId id="256"/>
            <p14:sldId id="284"/>
            <p14:sldId id="257"/>
            <p14:sldId id="285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Untitled Section" id="{34416D89-65AB-4F62-ABEA-7F8A526F5527}">
          <p14:sldIdLst>
            <p14:sldId id="267"/>
            <p14:sldId id="283"/>
            <p14:sldId id="268"/>
            <p14:sldId id="286"/>
            <p14:sldId id="269"/>
            <p14:sldId id="270"/>
            <p14:sldId id="271"/>
            <p14:sldId id="273"/>
            <p14:sldId id="274"/>
            <p14:sldId id="275"/>
            <p14:sldId id="276"/>
            <p14:sldId id="272"/>
            <p14:sldId id="277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79" d="100"/>
          <a:sy n="79" d="100"/>
        </p:scale>
        <p:origin x="82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70FF0-280C-4FCA-9FFD-8A34B0D46C4F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5047A-4D0A-41DD-A530-847E8C2D7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504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5346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9703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030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0547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9002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22385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9533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22149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3715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160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9678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62175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4437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88985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7412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8484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1197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48A3-04CB-5848-5BBA-80FB09BE3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954338"/>
            <a:ext cx="8915399" cy="3823043"/>
          </a:xfrm>
        </p:spPr>
        <p:txBody>
          <a:bodyPr>
            <a:normAutofit fontScale="90000"/>
          </a:bodyPr>
          <a:lstStyle/>
          <a:p>
            <a:r>
              <a:rPr lang="ru-RU" dirty="0"/>
              <a:t>Упражнение </a:t>
            </a:r>
            <a:r>
              <a:rPr lang="en-US" dirty="0"/>
              <a:t>2</a:t>
            </a:r>
            <a:r>
              <a:rPr lang="ru-RU" dirty="0"/>
              <a:t>: </a:t>
            </a:r>
            <a:br>
              <a:rPr lang="ru-RU" dirty="0"/>
            </a:br>
            <a:r>
              <a:rPr lang="ru-RU" dirty="0"/>
              <a:t>Работа с условни, аритметични и логически оператори. </a:t>
            </a:r>
            <a:br>
              <a:rPr lang="ru-RU" dirty="0"/>
            </a:br>
            <a:r>
              <a:rPr lang="ru-RU" dirty="0"/>
              <a:t>Работа с цикли. </a:t>
            </a:r>
            <a:endParaRPr lang="bg-B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8906F-6DAE-46B2-E939-EB991D6AF4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bg-BG" dirty="0"/>
              <a:t>инж. Лилия Андонова</a:t>
            </a:r>
          </a:p>
          <a:p>
            <a:pPr algn="r"/>
            <a:r>
              <a:rPr lang="bg-BG" dirty="0"/>
              <a:t>ТУ – София</a:t>
            </a:r>
          </a:p>
          <a:p>
            <a:pPr algn="r"/>
            <a:r>
              <a:rPr lang="bg-BG" dirty="0"/>
              <a:t>ФКСТ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48DC3-5E79-D6EF-E8D0-30DCF73FD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418" y="302715"/>
            <a:ext cx="28479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6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AF44-AA7B-DDE6-E96B-0B94DAB1C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Да си припомним какво е: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B2FF7-F3D1-2DC4-CEB5-1F1DBAA99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Виртуална машина. </a:t>
            </a:r>
          </a:p>
          <a:p>
            <a:r>
              <a:rPr lang="ru-RU" dirty="0"/>
              <a:t>Развойни среди. </a:t>
            </a:r>
          </a:p>
          <a:p>
            <a:r>
              <a:rPr lang="ru-RU" dirty="0"/>
              <a:t>Създаване на проект. </a:t>
            </a:r>
          </a:p>
          <a:p>
            <a:r>
              <a:rPr lang="ru-RU" dirty="0"/>
              <a:t>Структура на проект. </a:t>
            </a:r>
          </a:p>
          <a:p>
            <a:r>
              <a:rPr lang="ru-RU" dirty="0"/>
              <a:t>Създаване на пакет и „Main“ клас. </a:t>
            </a:r>
          </a:p>
          <a:p>
            <a:r>
              <a:rPr lang="ru-RU" dirty="0"/>
              <a:t>Променливи </a:t>
            </a:r>
          </a:p>
          <a:p>
            <a:r>
              <a:rPr lang="ru-RU" dirty="0"/>
              <a:t>Типове данни</a:t>
            </a:r>
          </a:p>
          <a:p>
            <a:r>
              <a:rPr lang="ru-RU" dirty="0"/>
              <a:t>Вход и изход в конзолата. 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54778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E6E3-9EE3-F7A3-F96E-3C674270B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Упражнението днес: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1D37F-1C35-FC2A-E533-A7732BE38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Аритметични оператори</a:t>
            </a:r>
          </a:p>
          <a:p>
            <a:r>
              <a:rPr lang="ru-RU" dirty="0"/>
              <a:t>Логически оператори</a:t>
            </a:r>
          </a:p>
          <a:p>
            <a:r>
              <a:rPr lang="ru-RU" dirty="0"/>
              <a:t>Условни оператори</a:t>
            </a:r>
          </a:p>
          <a:p>
            <a:r>
              <a:rPr lang="ru-RU" dirty="0"/>
              <a:t>Цикли </a:t>
            </a:r>
          </a:p>
        </p:txBody>
      </p:sp>
    </p:spTree>
    <p:extLst>
      <p:ext uri="{BB962C8B-B14F-4D97-AF65-F5344CB8AC3E}">
        <p14:creationId xmlns:p14="http://schemas.microsoft.com/office/powerpoint/2010/main" val="332346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E46F-A1E3-D2C3-D1E0-7CE33CAE6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10"/>
            <a:ext cx="9879012" cy="816763"/>
          </a:xfrm>
        </p:spPr>
        <p:txBody>
          <a:bodyPr/>
          <a:lstStyle/>
          <a:p>
            <a:r>
              <a:rPr lang="bg-BG" b="1" dirty="0"/>
              <a:t>Оператори</a:t>
            </a:r>
            <a:r>
              <a:rPr lang="bg-BG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C94DC-9E3E-56BD-B46B-44E9D2CBC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073" y="1607127"/>
            <a:ext cx="10880436" cy="475672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Във всички езици за програмиране се използват оператори, чрез които се изразяват някакви действия върху данни.</a:t>
            </a:r>
          </a:p>
          <a:p>
            <a:r>
              <a:rPr lang="ru-RU" dirty="0"/>
              <a:t>Операторите позволят манипулиране на прими­тивни типове данни.</a:t>
            </a:r>
          </a:p>
          <a:p>
            <a:r>
              <a:rPr lang="ru-RU" dirty="0"/>
              <a:t>Те са символи, които извършат специфични операции над един, два или три операнда и връщат резултат от извършените операции. </a:t>
            </a:r>
          </a:p>
          <a:p>
            <a:r>
              <a:rPr lang="ru-RU" dirty="0"/>
              <a:t>Операторите в Java могат да бъдат разделени в няколко различни категории:</a:t>
            </a:r>
          </a:p>
          <a:p>
            <a:pPr marL="400050" lvl="1" indent="0">
              <a:buNone/>
            </a:pPr>
            <a:r>
              <a:rPr lang="ru-RU" b="1" i="1" dirty="0">
                <a:solidFill>
                  <a:schemeClr val="accent1"/>
                </a:solidFill>
              </a:rPr>
              <a:t>Аритметични</a:t>
            </a:r>
            <a:r>
              <a:rPr lang="ru-RU" dirty="0"/>
              <a:t> – също както в математиката, служат за извършване на прости математически операции.</a:t>
            </a:r>
          </a:p>
          <a:p>
            <a:pPr marL="400050" lvl="1" indent="0">
              <a:buNone/>
            </a:pPr>
            <a:r>
              <a:rPr lang="ru-RU" b="1" i="1" dirty="0">
                <a:solidFill>
                  <a:schemeClr val="accent1"/>
                </a:solidFill>
              </a:rPr>
              <a:t>Оператори за присвояване </a:t>
            </a:r>
            <a:r>
              <a:rPr lang="ru-RU" dirty="0"/>
              <a:t>– позволяват присвояването на стойност на променливите.</a:t>
            </a:r>
          </a:p>
          <a:p>
            <a:pPr marL="400050" lvl="1" indent="0">
              <a:buNone/>
            </a:pPr>
            <a:r>
              <a:rPr lang="ru-RU" b="1" i="1" dirty="0">
                <a:solidFill>
                  <a:schemeClr val="accent1"/>
                </a:solidFill>
              </a:rPr>
              <a:t>Оператори за сравнение </a:t>
            </a:r>
            <a:r>
              <a:rPr lang="ru-RU" dirty="0"/>
              <a:t>– дават възможност за сравнение на два литерала и/или променливи.</a:t>
            </a:r>
          </a:p>
          <a:p>
            <a:pPr marL="400050" lvl="1" indent="0">
              <a:buNone/>
            </a:pPr>
            <a:r>
              <a:rPr lang="ru-RU" b="1" i="1" dirty="0">
                <a:solidFill>
                  <a:schemeClr val="accent1"/>
                </a:solidFill>
              </a:rPr>
              <a:t>Логически оператори </a:t>
            </a:r>
            <a:r>
              <a:rPr lang="ru-RU" dirty="0"/>
              <a:t>– оператори за работа с логически типове данни.</a:t>
            </a:r>
          </a:p>
          <a:p>
            <a:pPr marL="400050" lvl="1" indent="0">
              <a:buNone/>
            </a:pPr>
            <a:r>
              <a:rPr lang="ru-RU" b="1" i="1" dirty="0">
                <a:solidFill>
                  <a:schemeClr val="accent1"/>
                </a:solidFill>
              </a:rPr>
              <a:t>Побитови оператори </a:t>
            </a:r>
            <a:r>
              <a:rPr lang="ru-RU" dirty="0"/>
              <a:t>– използват се за извършване на операции върху двоичното представяне на числови данни.</a:t>
            </a:r>
          </a:p>
          <a:p>
            <a:pPr marL="400050" lvl="1" indent="0">
              <a:buNone/>
            </a:pPr>
            <a:r>
              <a:rPr lang="ru-RU" b="1" i="1" dirty="0">
                <a:solidFill>
                  <a:schemeClr val="accent1"/>
                </a:solidFill>
              </a:rPr>
              <a:t>Оператори за преобразуване на типовете </a:t>
            </a:r>
            <a:r>
              <a:rPr lang="ru-RU" dirty="0"/>
              <a:t>– позволяват преобразу­ването на данни от един тип в друг.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78104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DAEF-5163-4709-5775-A83EB91DA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364" y="624110"/>
            <a:ext cx="9888247" cy="678217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Унарни оператори</a:t>
            </a:r>
            <a:br>
              <a:rPr lang="ru-RU" b="1" i="1" dirty="0"/>
            </a:b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9B113-8F00-7587-4C14-37280FC5A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655" y="1376218"/>
            <a:ext cx="10931956" cy="480074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b="1" i="1" dirty="0"/>
              <a:t>Унарните оператори са тези оператори в Java, които се нуждаят само от един операнд, за да изпълнят някаква функция.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b="1" i="1" dirty="0"/>
              <a:t>Те работят на същия принцип като унарните операции в математиката.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b="1" i="1" dirty="0"/>
              <a:t>Например, можете да използвате унарни оператори, за да представите положителна или отрицателна стойност, да увеличите или намалите стойност с 1 или да отхвърлите стойност.</a:t>
            </a:r>
            <a:endParaRPr lang="bg-B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0D3E48-2344-82E6-7666-D54BD17D6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829839"/>
              </p:ext>
            </p:extLst>
          </p:nvPr>
        </p:nvGraphicFramePr>
        <p:xfrm>
          <a:off x="2662742" y="3210243"/>
          <a:ext cx="675178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241">
                  <a:extLst>
                    <a:ext uri="{9D8B030D-6E8A-4147-A177-3AD203B41FA5}">
                      <a16:colId xmlns:a16="http://schemas.microsoft.com/office/drawing/2014/main" val="1263628316"/>
                    </a:ext>
                  </a:extLst>
                </a:gridCol>
                <a:gridCol w="4672540">
                  <a:extLst>
                    <a:ext uri="{9D8B030D-6E8A-4147-A177-3AD203B41FA5}">
                      <a16:colId xmlns:a16="http://schemas.microsoft.com/office/drawing/2014/main" val="1716080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оператор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действие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482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++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инкрементиране с 1;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3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– –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декрементиране с 1;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539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положително число;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86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отрицателно число;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50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~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побитово инвертиране; 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795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! 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логическо отрицание;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868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(&lt;тип&gt;) 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преобразуване на тип данни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665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305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3FD4-CFB9-939B-051B-FA6545A75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655" y="624110"/>
            <a:ext cx="9915957" cy="1280890"/>
          </a:xfrm>
        </p:spPr>
        <p:txBody>
          <a:bodyPr>
            <a:normAutofit/>
          </a:bodyPr>
          <a:lstStyle/>
          <a:p>
            <a:r>
              <a:rPr lang="ru-RU" b="1" dirty="0"/>
              <a:t>инкрементиране ++</a:t>
            </a:r>
            <a:br>
              <a:rPr lang="ru-RU" b="1" dirty="0"/>
            </a:br>
            <a:r>
              <a:rPr lang="ru-RU" b="1" dirty="0"/>
              <a:t>декрементиране --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8A55-BDBA-6453-6037-29CE60358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145" y="2133600"/>
            <a:ext cx="10248467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Операторът ++ увеличава числото с единица (а = а + 1;)</a:t>
            </a:r>
          </a:p>
          <a:p>
            <a:pPr marL="0" indent="0">
              <a:buNone/>
            </a:pPr>
            <a:r>
              <a:rPr lang="ru-RU" dirty="0"/>
              <a:t>	- постфикс а++ (първо изпълнява израза и след това увеличава с 1)</a:t>
            </a:r>
          </a:p>
          <a:p>
            <a:pPr marL="0" indent="0">
              <a:buNone/>
            </a:pPr>
            <a:r>
              <a:rPr lang="ru-RU" dirty="0"/>
              <a:t>	- суфикс ++а (първо увеличава с 1 и след това извършва действията)</a:t>
            </a:r>
          </a:p>
          <a:p>
            <a:pPr marL="0" indent="0">
              <a:buNone/>
            </a:pPr>
            <a:r>
              <a:rPr lang="ru-RU" dirty="0"/>
              <a:t>Операторът -- намалява числото с единица (а = а – 1;)</a:t>
            </a:r>
          </a:p>
          <a:p>
            <a:pPr marL="0" indent="0">
              <a:buNone/>
            </a:pPr>
            <a:r>
              <a:rPr lang="ru-RU" dirty="0"/>
              <a:t>	- постфикс а-- първо изпълнява израза и след това намалява с 1)</a:t>
            </a:r>
          </a:p>
          <a:p>
            <a:pPr marL="0" indent="0">
              <a:buNone/>
            </a:pPr>
            <a:r>
              <a:rPr lang="ru-RU" dirty="0"/>
              <a:t>	- суфикс --а (първо унамалява с 1 и след това извършва действията)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3230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4184-3065-5DA3-409D-18C0178A6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09"/>
            <a:ext cx="9879012" cy="93683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Аритметични оператори</a:t>
            </a:r>
            <a:br>
              <a:rPr lang="ru-RU" b="1" dirty="0"/>
            </a:b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13344-385C-B242-9DB1-3E49DBD1F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181" y="1560944"/>
            <a:ext cx="10751127" cy="435027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Аритметичните оператори служат за извършване на математически операции между числа.</a:t>
            </a:r>
          </a:p>
          <a:p>
            <a:pPr marL="0" indent="0">
              <a:buNone/>
            </a:pPr>
            <a:br>
              <a:rPr lang="ru-RU" dirty="0"/>
            </a:br>
            <a:endParaRPr lang="bg-BG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9AF211-A24E-49E3-C7A4-16A2DCCDC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24988"/>
              </p:ext>
            </p:extLst>
          </p:nvPr>
        </p:nvGraphicFramePr>
        <p:xfrm>
          <a:off x="1958109" y="307201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3127">
                  <a:extLst>
                    <a:ext uri="{9D8B030D-6E8A-4147-A177-3AD203B41FA5}">
                      <a16:colId xmlns:a16="http://schemas.microsoft.com/office/drawing/2014/main" val="1499240010"/>
                    </a:ext>
                  </a:extLst>
                </a:gridCol>
                <a:gridCol w="5504873">
                  <a:extLst>
                    <a:ext uri="{9D8B030D-6E8A-4147-A177-3AD203B41FA5}">
                      <a16:colId xmlns:a16="http://schemas.microsoft.com/office/drawing/2014/main" val="4263153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оператор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дейсвие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911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събиране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419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изваждане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927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умножение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71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деление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828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модулно деление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180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994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FFC2-C164-C8ED-EFD7-28645D1BC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10"/>
            <a:ext cx="9879012" cy="964545"/>
          </a:xfrm>
        </p:spPr>
        <p:txBody>
          <a:bodyPr/>
          <a:lstStyle/>
          <a:p>
            <a:r>
              <a:rPr lang="bg-BG" b="1" dirty="0"/>
              <a:t>Аритметични операции: + и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0D3C3-0C42-4E30-27DC-0F5763E89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127" y="1588655"/>
            <a:ext cx="10405485" cy="43225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bg-BG" dirty="0"/>
              <a:t>Събиране на числа (оператор +):</a:t>
            </a:r>
          </a:p>
          <a:p>
            <a:pPr marL="0" indent="0">
              <a:buNone/>
            </a:pPr>
            <a:r>
              <a:rPr lang="en-US" dirty="0"/>
              <a:t>int a = 10;</a:t>
            </a:r>
          </a:p>
          <a:p>
            <a:pPr marL="0" indent="0">
              <a:buNone/>
            </a:pPr>
            <a:r>
              <a:rPr lang="en-US" dirty="0"/>
              <a:t>int b = 3;</a:t>
            </a:r>
          </a:p>
          <a:p>
            <a:pPr marL="0" indent="0">
              <a:buNone/>
            </a:pPr>
            <a:r>
              <a:rPr lang="en-US" dirty="0"/>
              <a:t>System.out.println("</a:t>
            </a:r>
            <a:r>
              <a:rPr lang="bg-BG" dirty="0"/>
              <a:t>Събиране: " + (</a:t>
            </a:r>
            <a:r>
              <a:rPr lang="en-US" dirty="0"/>
              <a:t>a + b)); // 13</a:t>
            </a:r>
          </a:p>
          <a:p>
            <a:pPr marL="0" indent="0">
              <a:buNone/>
            </a:pPr>
            <a:endParaRPr lang="bg-BG" dirty="0"/>
          </a:p>
          <a:p>
            <a:pPr>
              <a:buFont typeface="Wingdings" panose="05000000000000000000" pitchFamily="2" charset="2"/>
              <a:buChar char="Ø"/>
            </a:pPr>
            <a:r>
              <a:rPr lang="bg-BG" dirty="0"/>
              <a:t>Изваждане на числа (оператор -):</a:t>
            </a:r>
          </a:p>
          <a:p>
            <a:pPr marL="0" indent="0">
              <a:buNone/>
            </a:pPr>
            <a:r>
              <a:rPr lang="en-US" dirty="0"/>
              <a:t>int a = 10;</a:t>
            </a:r>
          </a:p>
          <a:p>
            <a:pPr marL="0" indent="0">
              <a:buNone/>
            </a:pPr>
            <a:r>
              <a:rPr lang="en-US" dirty="0"/>
              <a:t>int b = 3;</a:t>
            </a:r>
          </a:p>
          <a:p>
            <a:pPr marL="0" indent="0">
              <a:buNone/>
            </a:pPr>
            <a:r>
              <a:rPr lang="en-US" dirty="0"/>
              <a:t>System.out.println(„</a:t>
            </a:r>
            <a:r>
              <a:rPr lang="bg-BG" dirty="0"/>
              <a:t>Изваждане: " + (</a:t>
            </a:r>
            <a:r>
              <a:rPr lang="en-US" dirty="0"/>
              <a:t>a </a:t>
            </a:r>
            <a:r>
              <a:rPr lang="bg-BG" dirty="0"/>
              <a:t>-</a:t>
            </a:r>
            <a:r>
              <a:rPr lang="en-US" dirty="0"/>
              <a:t> b)); // </a:t>
            </a:r>
            <a:r>
              <a:rPr lang="bg-BG" dirty="0"/>
              <a:t>7</a:t>
            </a:r>
            <a:endParaRPr lang="en-US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8666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9A1DE-D930-3C39-FB87-D874BCAF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624110"/>
            <a:ext cx="9879012" cy="853708"/>
          </a:xfrm>
        </p:spPr>
        <p:txBody>
          <a:bodyPr/>
          <a:lstStyle/>
          <a:p>
            <a:r>
              <a:rPr lang="bg-BG" b="1" dirty="0"/>
              <a:t>Аритметични операции: * и /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A34E3-19E1-C4E5-3075-F630B0B24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091" y="1607127"/>
            <a:ext cx="10211521" cy="4626763"/>
          </a:xfrm>
        </p:spPr>
        <p:txBody>
          <a:bodyPr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bg-B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Умножение на числа (оператор *):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int a = 10;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int b = 3;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System.out.println(„</a:t>
            </a:r>
            <a:r>
              <a:rPr kumimoji="0" lang="bg-B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Произведение: " +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 </a:t>
            </a:r>
            <a:r>
              <a:rPr kumimoji="0" lang="bg-B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*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b)); // 13</a:t>
            </a:r>
            <a:r>
              <a:rPr kumimoji="0" lang="bg-B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bg-BG" dirty="0"/>
              <a:t>Деление на числа (оператор /):</a:t>
            </a:r>
          </a:p>
          <a:p>
            <a:pPr marL="0" indent="0">
              <a:buNone/>
            </a:pPr>
            <a:r>
              <a:rPr lang="en-US" dirty="0"/>
              <a:t>int a = 10;</a:t>
            </a:r>
          </a:p>
          <a:p>
            <a:pPr marL="0" indent="0">
              <a:buNone/>
            </a:pPr>
            <a:r>
              <a:rPr lang="en-US" dirty="0"/>
              <a:t>int b = 3;</a:t>
            </a:r>
          </a:p>
          <a:p>
            <a:pPr marL="0" indent="0">
              <a:buNone/>
            </a:pPr>
            <a:r>
              <a:rPr lang="en-US" dirty="0"/>
              <a:t>System.out.println(„</a:t>
            </a:r>
            <a:r>
              <a:rPr lang="bg-BG" dirty="0"/>
              <a:t>Частно: " + (</a:t>
            </a:r>
            <a:r>
              <a:rPr lang="en-US" dirty="0"/>
              <a:t>a </a:t>
            </a:r>
            <a:r>
              <a:rPr lang="bg-BG" dirty="0"/>
              <a:t>/</a:t>
            </a:r>
            <a:r>
              <a:rPr lang="en-US" dirty="0"/>
              <a:t> b)); // 3</a:t>
            </a:r>
            <a:r>
              <a:rPr lang="bg-BG" dirty="0"/>
              <a:t> – дробната част се отрязва</a:t>
            </a:r>
          </a:p>
          <a:p>
            <a:pPr marL="0" indent="0">
              <a:buNone/>
            </a:pPr>
            <a:r>
              <a:rPr lang="en-US" dirty="0"/>
              <a:t>double c = a / 3.0</a:t>
            </a:r>
            <a:r>
              <a:rPr lang="bg-BG" dirty="0"/>
              <a:t>; </a:t>
            </a:r>
            <a:r>
              <a:rPr lang="en-US" dirty="0"/>
              <a:t>// 3.3333333333 – </a:t>
            </a:r>
            <a:r>
              <a:rPr lang="bg-BG" dirty="0"/>
              <a:t>дробно деление</a:t>
            </a:r>
          </a:p>
          <a:p>
            <a:pPr marL="0" indent="0">
              <a:buNone/>
            </a:pPr>
            <a:r>
              <a:rPr lang="en-US" dirty="0"/>
              <a:t>System.out.println(„</a:t>
            </a:r>
            <a:r>
              <a:rPr lang="bg-BG" dirty="0"/>
              <a:t>Частно: " + (</a:t>
            </a:r>
            <a:r>
              <a:rPr lang="en-US" dirty="0"/>
              <a:t>a </a:t>
            </a:r>
            <a:r>
              <a:rPr lang="bg-BG" dirty="0"/>
              <a:t>/</a:t>
            </a:r>
            <a:r>
              <a:rPr lang="en-US" dirty="0"/>
              <a:t> </a:t>
            </a:r>
            <a:r>
              <a:rPr lang="bg-BG" dirty="0"/>
              <a:t>0</a:t>
            </a:r>
            <a:r>
              <a:rPr lang="en-US" dirty="0"/>
              <a:t>)); //</a:t>
            </a:r>
            <a:r>
              <a:rPr lang="bg-BG" dirty="0"/>
              <a:t> Грешка: деление на 0</a:t>
            </a:r>
            <a:endParaRPr lang="en-US" dirty="0"/>
          </a:p>
          <a:p>
            <a:pPr marL="0" indent="0">
              <a:buNone/>
            </a:pPr>
            <a:endParaRPr lang="bg-BG" b="1" dirty="0"/>
          </a:p>
        </p:txBody>
      </p:sp>
    </p:spTree>
    <p:extLst>
      <p:ext uri="{BB962C8B-B14F-4D97-AF65-F5344CB8AC3E}">
        <p14:creationId xmlns:p14="http://schemas.microsoft.com/office/powerpoint/2010/main" val="21142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573A-C7E7-FDA3-69A9-51CA7ACE6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364" y="624110"/>
            <a:ext cx="9888247" cy="724399"/>
          </a:xfrm>
        </p:spPr>
        <p:txBody>
          <a:bodyPr/>
          <a:lstStyle/>
          <a:p>
            <a:r>
              <a:rPr lang="bg-BG" dirty="0"/>
              <a:t> </a:t>
            </a:r>
            <a:r>
              <a:rPr lang="bg-BG" b="1" dirty="0"/>
              <a:t>Аритметични операции: %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%</a:t>
            </a:r>
            <a:endParaRPr lang="bg-BG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5FBBCC-277D-282E-8709-32F424D2A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00727" y="1422400"/>
            <a:ext cx="10303884" cy="49876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Модул - остатък от целочислено деление на числа (оператор %):</a:t>
            </a:r>
          </a:p>
          <a:p>
            <a:pPr marL="0" indent="0">
              <a:buNone/>
            </a:pPr>
            <a:r>
              <a:rPr lang="en-US" dirty="0"/>
              <a:t>int a = 7;</a:t>
            </a:r>
          </a:p>
          <a:p>
            <a:pPr marL="0" indent="0">
              <a:buNone/>
            </a:pPr>
            <a:r>
              <a:rPr lang="en-US" dirty="0"/>
              <a:t>int b = 2;</a:t>
            </a:r>
          </a:p>
          <a:p>
            <a:pPr marL="0" indent="0">
              <a:buNone/>
            </a:pPr>
            <a:r>
              <a:rPr lang="en-US" dirty="0"/>
              <a:t>int product = a % b; </a:t>
            </a:r>
            <a:r>
              <a:rPr lang="bg-BG" dirty="0"/>
              <a:t> </a:t>
            </a:r>
            <a:r>
              <a:rPr lang="en-US" dirty="0"/>
              <a:t>//</a:t>
            </a:r>
            <a:r>
              <a:rPr lang="bg-BG" dirty="0"/>
              <a:t> 1</a:t>
            </a: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sv-SE" dirty="0"/>
              <a:t>int odd = 3 % 2;</a:t>
            </a:r>
            <a:r>
              <a:rPr lang="bg-BG" dirty="0"/>
              <a:t> </a:t>
            </a:r>
            <a:r>
              <a:rPr lang="en-US" dirty="0"/>
              <a:t>//</a:t>
            </a:r>
            <a:r>
              <a:rPr lang="bg-BG" dirty="0"/>
              <a:t> 1 – числото е нечетно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int еven = 4 % 2;</a:t>
            </a:r>
            <a:r>
              <a:rPr lang="bg-BG" dirty="0"/>
              <a:t> </a:t>
            </a:r>
            <a:r>
              <a:rPr lang="en-US" dirty="0"/>
              <a:t>//</a:t>
            </a:r>
            <a:r>
              <a:rPr lang="bg-BG" dirty="0"/>
              <a:t> 0 – числото е четно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int error = 3 % 0;</a:t>
            </a:r>
            <a:r>
              <a:rPr lang="bg-BG" dirty="0"/>
              <a:t> </a:t>
            </a:r>
            <a:r>
              <a:rPr lang="en-US" dirty="0"/>
              <a:t>// </a:t>
            </a:r>
            <a:r>
              <a:rPr lang="bg-BG" dirty="0"/>
              <a:t>Грешка: деление на 0</a:t>
            </a:r>
          </a:p>
        </p:txBody>
      </p:sp>
    </p:spTree>
    <p:extLst>
      <p:ext uri="{BB962C8B-B14F-4D97-AF65-F5344CB8AC3E}">
        <p14:creationId xmlns:p14="http://schemas.microsoft.com/office/powerpoint/2010/main" val="679680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2A38-5F03-17ED-B7BB-CE797052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10" y="624110"/>
            <a:ext cx="9851302" cy="1056908"/>
          </a:xfrm>
        </p:spPr>
        <p:txBody>
          <a:bodyPr/>
          <a:lstStyle/>
          <a:p>
            <a:r>
              <a:rPr lang="ru-RU" b="1" dirty="0"/>
              <a:t>Операторите за сравнение 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BF00C-DA19-8CE1-6793-DA69F5C82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8218" y="1782619"/>
            <a:ext cx="10636394" cy="46828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използват </a:t>
            </a:r>
            <a:r>
              <a:rPr lang="bg-BG" dirty="0"/>
              <a:t>се </a:t>
            </a:r>
            <a:r>
              <a:rPr lang="ru-RU" dirty="0"/>
              <a:t>за сравняване на две или повече операнди.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върнатият от тях резултат е булев (true или false)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имат по-малък приоритет от аритметичните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4563EC9-143A-50A5-4472-628BC8F6E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228714"/>
              </p:ext>
            </p:extLst>
          </p:nvPr>
        </p:nvGraphicFramePr>
        <p:xfrm>
          <a:off x="2032000" y="3429000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3055">
                  <a:extLst>
                    <a:ext uri="{9D8B030D-6E8A-4147-A177-3AD203B41FA5}">
                      <a16:colId xmlns:a16="http://schemas.microsoft.com/office/drawing/2014/main" val="577995238"/>
                    </a:ext>
                  </a:extLst>
                </a:gridCol>
                <a:gridCol w="5624945">
                  <a:extLst>
                    <a:ext uri="{9D8B030D-6E8A-4147-A177-3AD203B41FA5}">
                      <a16:colId xmlns:a16="http://schemas.microsoft.com/office/drawing/2014/main" val="30533067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оператор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действие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504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&gt;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по-голямо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196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по-малко 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106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&gt;=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по-голямо или равно 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283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&lt;=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по-малко или равно 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5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==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оператора за равенство 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158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!=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различие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631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981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466B-97D2-F53B-8AFE-7B016008F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710" y="624110"/>
            <a:ext cx="9952902" cy="844472"/>
          </a:xfrm>
        </p:spPr>
        <p:txBody>
          <a:bodyPr/>
          <a:lstStyle/>
          <a:p>
            <a:r>
              <a:rPr lang="bg-BG" b="1" dirty="0"/>
              <a:t> Логическите оператори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6B5BB-E86B-C96F-E5A9-344EBBEFB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399" y="1764145"/>
            <a:ext cx="11037455" cy="4469745"/>
          </a:xfrm>
        </p:spPr>
        <p:txBody>
          <a:bodyPr>
            <a:normAutofit/>
          </a:bodyPr>
          <a:lstStyle/>
          <a:p>
            <a:r>
              <a:rPr lang="ru-RU" dirty="0"/>
              <a:t>Логическите оператори работят с булеви стойности (true и false) и служат за комбиниране на условия.</a:t>
            </a:r>
          </a:p>
          <a:p>
            <a:r>
              <a:rPr lang="bg-BG" dirty="0"/>
              <a:t>Основни логически оператори: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bg-BG" b="1" dirty="0">
                <a:solidFill>
                  <a:schemeClr val="accent1"/>
                </a:solidFill>
              </a:rPr>
              <a:t>&amp;&amp; (логическо „И“) </a:t>
            </a:r>
            <a:r>
              <a:rPr lang="bg-BG" dirty="0"/>
              <a:t>– връща </a:t>
            </a:r>
            <a:r>
              <a:rPr lang="en-US" dirty="0"/>
              <a:t>true, </a:t>
            </a:r>
            <a:r>
              <a:rPr lang="bg-BG" dirty="0"/>
              <a:t>ако и двете условия са верни.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b="1" dirty="0">
                <a:solidFill>
                  <a:schemeClr val="accent1"/>
                </a:solidFill>
              </a:rPr>
              <a:t>|| (</a:t>
            </a:r>
            <a:r>
              <a:rPr lang="bg-BG" b="1" dirty="0">
                <a:solidFill>
                  <a:schemeClr val="accent1"/>
                </a:solidFill>
              </a:rPr>
              <a:t>логическо „ИЛИ“) </a:t>
            </a:r>
            <a:r>
              <a:rPr lang="bg-BG" dirty="0"/>
              <a:t>– връща </a:t>
            </a:r>
            <a:r>
              <a:rPr lang="en-US" dirty="0"/>
              <a:t>true, </a:t>
            </a:r>
            <a:r>
              <a:rPr lang="bg-BG" dirty="0"/>
              <a:t>ако поне едно от условията е вярно.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b="1" dirty="0">
                <a:solidFill>
                  <a:schemeClr val="accent1"/>
                </a:solidFill>
              </a:rPr>
              <a:t>! (</a:t>
            </a:r>
            <a:r>
              <a:rPr lang="bg-BG" b="1" dirty="0">
                <a:solidFill>
                  <a:schemeClr val="accent1"/>
                </a:solidFill>
              </a:rPr>
              <a:t>логическо „НЕ“) </a:t>
            </a:r>
            <a:r>
              <a:rPr lang="bg-BG" dirty="0"/>
              <a:t>– променя стойността на булевата променлива – от </a:t>
            </a:r>
            <a:r>
              <a:rPr lang="en-US" dirty="0"/>
              <a:t>true </a:t>
            </a:r>
            <a:r>
              <a:rPr lang="bg-BG" dirty="0"/>
              <a:t>на </a:t>
            </a:r>
            <a:r>
              <a:rPr lang="en-US" dirty="0"/>
              <a:t>false </a:t>
            </a:r>
            <a:r>
              <a:rPr lang="bg-BG" dirty="0"/>
              <a:t>и обратно.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bg-BG" b="1" dirty="0">
                <a:solidFill>
                  <a:schemeClr val="accent1"/>
                </a:solidFill>
              </a:rPr>
              <a:t>^ (изключващо ИЛИ) </a:t>
            </a:r>
            <a:r>
              <a:rPr lang="bg-BG" dirty="0"/>
              <a:t>– </a:t>
            </a:r>
            <a:r>
              <a:rPr lang="ru-RU" dirty="0"/>
              <a:t>връща резултат true, когато само един от двата операнда има стойност true.</a:t>
            </a:r>
            <a:endParaRPr lang="bg-BG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71409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31AD-48FE-40D5-6C9A-DE746A6C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837" y="624110"/>
            <a:ext cx="9869776" cy="742872"/>
          </a:xfrm>
        </p:spPr>
        <p:txBody>
          <a:bodyPr/>
          <a:lstStyle/>
          <a:p>
            <a:r>
              <a:rPr lang="bg-BG" b="1" dirty="0"/>
              <a:t>Операции с логически оператори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C02517-C838-B0D6-09C1-C8CF903566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183581"/>
              </p:ext>
            </p:extLst>
          </p:nvPr>
        </p:nvGraphicFramePr>
        <p:xfrm>
          <a:off x="1524000" y="2789381"/>
          <a:ext cx="8915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138475707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45107026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67916988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68387975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89976353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808295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!a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a&amp;&amp;b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a||b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a^b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52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21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49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970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608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104C-78EE-DEA3-CFAD-3CEA84E7D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8" y="624110"/>
            <a:ext cx="9897484" cy="1280890"/>
          </a:xfrm>
        </p:spPr>
        <p:txBody>
          <a:bodyPr/>
          <a:lstStyle/>
          <a:p>
            <a:r>
              <a:rPr lang="bg-BG" b="1" dirty="0"/>
              <a:t>Условни оператори в </a:t>
            </a:r>
            <a:r>
              <a:rPr lang="en-US" b="1" dirty="0"/>
              <a:t>Java </a:t>
            </a:r>
            <a:endParaRPr lang="bg-BG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718E4-3E51-F583-0D55-2B6043597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3017" y="1588655"/>
            <a:ext cx="10243127" cy="464523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800" b="1" dirty="0"/>
              <a:t>използват </a:t>
            </a:r>
            <a:r>
              <a:rPr lang="bg-BG" sz="2800" b="1" dirty="0"/>
              <a:t>се </a:t>
            </a:r>
            <a:r>
              <a:rPr lang="ru-RU" sz="2800" b="1" dirty="0"/>
              <a:t>за вземане на решения въз основа на резултата от дадено условие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sz="2800" b="1" dirty="0"/>
          </a:p>
          <a:p>
            <a:pPr>
              <a:buFont typeface="Wingdings" panose="05000000000000000000" pitchFamily="2" charset="2"/>
              <a:buChar char="Ø"/>
            </a:pPr>
            <a:endParaRPr lang="ru-RU" sz="2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800" b="1" dirty="0"/>
              <a:t>позволяват на програмата да изпълнява различни действия в зависимост от това дали условието е вярно или невярно.</a:t>
            </a:r>
            <a:endParaRPr lang="bg-BG" sz="2800" b="1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58755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FC9DD-13FD-6624-D79B-BC3D2D9F7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892" y="624110"/>
            <a:ext cx="9906720" cy="835235"/>
          </a:xfrm>
        </p:spPr>
        <p:txBody>
          <a:bodyPr/>
          <a:lstStyle/>
          <a:p>
            <a:r>
              <a:rPr lang="bg-BG" b="1" dirty="0"/>
              <a:t>Прости проверки</a:t>
            </a:r>
            <a:r>
              <a:rPr lang="en-US" b="1" dirty="0"/>
              <a:t> if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191C5-A3C8-49FC-06C9-F304D141D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7389" y="1958107"/>
            <a:ext cx="5307880" cy="44444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Основният формат на условната конструкция if е:</a:t>
            </a:r>
          </a:p>
          <a:p>
            <a:pPr marL="0" indent="0">
              <a:buNone/>
            </a:pPr>
            <a:r>
              <a:rPr lang="ru-RU" dirty="0"/>
              <a:t>if (булев израз) {</a:t>
            </a:r>
          </a:p>
          <a:p>
            <a:pPr marL="0" indent="0">
              <a:buNone/>
            </a:pPr>
            <a:r>
              <a:rPr lang="ru-RU" dirty="0"/>
              <a:t>    тяло на условната конструкция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dirty="0"/>
              <a:t>Форматът включва: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if-клауза,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булев израз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тяло на условната конструкция.</a:t>
            </a:r>
          </a:p>
          <a:p>
            <a:pPr marL="0" indent="0">
              <a:buNone/>
            </a:pPr>
            <a:endParaRPr lang="bg-B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0BFDF-976B-80E8-0006-A9A2ED5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1252" y="1958107"/>
            <a:ext cx="5140756" cy="44444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Булевият израз може да бъде: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променлива от булев тип,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булев логически израз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релационен израз.</a:t>
            </a:r>
          </a:p>
          <a:p>
            <a:pPr marL="0" indent="0">
              <a:buNone/>
            </a:pPr>
            <a:r>
              <a:rPr lang="ru-RU" i="1" dirty="0">
                <a:solidFill>
                  <a:schemeClr val="accent1"/>
                </a:solidFill>
              </a:rPr>
              <a:t>Булевият израз не може да бъде цяло число.</a:t>
            </a:r>
          </a:p>
          <a:p>
            <a:pPr marL="0" indent="0">
              <a:buNone/>
            </a:pPr>
            <a:r>
              <a:rPr lang="ru-RU" dirty="0"/>
              <a:t>{} – тяло, може да се състои от един или няколко оператора. В тялото могат да бъдат включвани една или няколко конструкции.</a:t>
            </a:r>
          </a:p>
          <a:p>
            <a:pPr marL="0" indent="0">
              <a:buNone/>
            </a:pPr>
            <a:r>
              <a:rPr lang="ru-RU" dirty="0"/>
              <a:t>Булевият израз трябва да връща true или false. </a:t>
            </a:r>
          </a:p>
          <a:p>
            <a:pPr marL="0" indent="0">
              <a:buNone/>
            </a:pPr>
            <a:r>
              <a:rPr lang="en-US" dirty="0"/>
              <a:t>t</a:t>
            </a:r>
            <a:r>
              <a:rPr lang="ru-RU" dirty="0"/>
              <a:t>rue – изпълнява се тялото на условната конструкция. </a:t>
            </a:r>
          </a:p>
          <a:p>
            <a:pPr marL="0" indent="0">
              <a:buNone/>
            </a:pPr>
            <a:r>
              <a:rPr lang="en-US" dirty="0"/>
              <a:t>f</a:t>
            </a:r>
            <a:r>
              <a:rPr lang="ru-RU" dirty="0"/>
              <a:t>alse – операторите в тялото няма да бъдат изпълнени.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35435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539A-C9E2-08A8-69F8-82AA15066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891" y="624110"/>
            <a:ext cx="9906721" cy="835235"/>
          </a:xfrm>
        </p:spPr>
        <p:txBody>
          <a:bodyPr/>
          <a:lstStyle/>
          <a:p>
            <a:r>
              <a:rPr lang="bg-BG" b="1" dirty="0"/>
              <a:t>Оператор </a:t>
            </a:r>
            <a:r>
              <a:rPr lang="en-US" b="1" dirty="0"/>
              <a:t>if-else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2187A-3644-770C-7260-CF129B4FE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091" y="1819564"/>
            <a:ext cx="10211521" cy="441432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 false на условието, можем да изпълним други действия - чрез еlse конструкция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(</a:t>
            </a:r>
            <a:r>
              <a:rPr lang="ru-RU" dirty="0"/>
              <a:t>условие) {</a:t>
            </a:r>
          </a:p>
          <a:p>
            <a:pPr marL="0" indent="0">
              <a:buNone/>
            </a:pPr>
            <a:r>
              <a:rPr lang="ru-RU" dirty="0"/>
              <a:t>    // код, който се изпълнява, ако условието е вярно</a:t>
            </a:r>
          </a:p>
          <a:p>
            <a:pPr marL="0" indent="0">
              <a:buNone/>
            </a:pPr>
            <a:r>
              <a:rPr lang="ru-RU" dirty="0"/>
              <a:t>} </a:t>
            </a:r>
            <a:r>
              <a:rPr lang="en-US" dirty="0"/>
              <a:t>else {</a:t>
            </a:r>
          </a:p>
          <a:p>
            <a:pPr marL="0" indent="0">
              <a:buNone/>
            </a:pPr>
            <a:r>
              <a:rPr lang="en-US" dirty="0"/>
              <a:t>    // </a:t>
            </a:r>
            <a:r>
              <a:rPr lang="ru-RU" dirty="0"/>
              <a:t>код, който се изпълнява, ако условието е невярно</a:t>
            </a:r>
          </a:p>
          <a:p>
            <a:pPr marL="0" indent="0">
              <a:buNone/>
            </a:pPr>
            <a:r>
              <a:rPr lang="ru-RU" dirty="0"/>
              <a:t>}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94977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1670-7567-A6B5-C156-AF14B92A1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365" y="624110"/>
            <a:ext cx="9888248" cy="789054"/>
          </a:xfrm>
        </p:spPr>
        <p:txBody>
          <a:bodyPr/>
          <a:lstStyle/>
          <a:p>
            <a:r>
              <a:rPr lang="bg-BG" b="1" dirty="0"/>
              <a:t>Вложени </a:t>
            </a:r>
            <a:r>
              <a:rPr lang="en-US" b="1" dirty="0"/>
              <a:t>if </a:t>
            </a:r>
            <a:r>
              <a:rPr lang="bg-BG" b="1" dirty="0"/>
              <a:t>конструкции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0E1AC-5AD6-585C-EC64-54D1C91D0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6836" y="1533236"/>
            <a:ext cx="10377776" cy="4700654"/>
          </a:xfrm>
        </p:spPr>
        <p:txBody>
          <a:bodyPr/>
          <a:lstStyle/>
          <a:p>
            <a:r>
              <a:rPr lang="ru-RU" dirty="0"/>
              <a:t>Влагане наричаме поставянето на if или if-else клауза в друга if или else конструкция.</a:t>
            </a:r>
          </a:p>
          <a:p>
            <a:r>
              <a:rPr lang="ru-RU" dirty="0"/>
              <a:t>Всяка else клауза се отнася за най-близко разположе­ната предходна if клауза. </a:t>
            </a:r>
          </a:p>
          <a:p>
            <a:r>
              <a:rPr lang="ru-RU" dirty="0"/>
              <a:t>Не е добра практика нивото на влагане да бъде повече от три.</a:t>
            </a:r>
          </a:p>
          <a:p>
            <a:r>
              <a:rPr lang="ru-RU" dirty="0"/>
              <a:t>Използвайте блокове, заградени с къдрави скоби { } с цел избягване на двусмислие;</a:t>
            </a:r>
          </a:p>
          <a:p>
            <a:r>
              <a:rPr lang="ru-RU" dirty="0"/>
              <a:t>Използвайте else клауза след всяка if клауза, когато е възможно;</a:t>
            </a:r>
          </a:p>
          <a:p>
            <a:r>
              <a:rPr lang="ru-RU" dirty="0"/>
              <a:t>Поставяйте условните ситуации, които желаете да бъдат изпълнени първи на първо място;</a:t>
            </a:r>
          </a:p>
          <a:p>
            <a:r>
              <a:rPr lang="ru-RU" dirty="0"/>
              <a:t>Форматирайте винаги програмния код, с цел да бъде лесно четим и да не позволява двусмислие;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37030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DC64-F2F5-066F-B8C3-65BFDA83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10"/>
            <a:ext cx="9879012" cy="936835"/>
          </a:xfrm>
        </p:spPr>
        <p:txBody>
          <a:bodyPr/>
          <a:lstStyle/>
          <a:p>
            <a:r>
              <a:rPr lang="bg-BG" b="1" dirty="0"/>
              <a:t>Серия от проверки </a:t>
            </a:r>
            <a:r>
              <a:rPr lang="en-US" b="1" dirty="0"/>
              <a:t>if-else if-else 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32847-A8C9-52E5-4756-443080076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491" y="1727200"/>
            <a:ext cx="10313121" cy="418402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Когато има нужда от проверка на повече от едно условие, може да използваме няколко if-else if-else структури.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if (условие1) {</a:t>
            </a:r>
          </a:p>
          <a:p>
            <a:pPr marL="0" indent="0">
              <a:buNone/>
            </a:pPr>
            <a:r>
              <a:rPr lang="ru-RU" dirty="0"/>
              <a:t>    // код за условие1</a:t>
            </a:r>
          </a:p>
          <a:p>
            <a:pPr marL="0" indent="0">
              <a:buNone/>
            </a:pPr>
            <a:r>
              <a:rPr lang="ru-RU" dirty="0"/>
              <a:t>} else if (условие2) {</a:t>
            </a:r>
          </a:p>
          <a:p>
            <a:pPr marL="0" indent="0">
              <a:buNone/>
            </a:pPr>
            <a:r>
              <a:rPr lang="ru-RU" dirty="0"/>
              <a:t>    // код за условие2</a:t>
            </a:r>
          </a:p>
          <a:p>
            <a:pPr marL="0" indent="0">
              <a:buNone/>
            </a:pPr>
            <a:r>
              <a:rPr lang="ru-RU" dirty="0"/>
              <a:t>} else {</a:t>
            </a:r>
          </a:p>
          <a:p>
            <a:pPr marL="0" indent="0">
              <a:buNone/>
            </a:pPr>
            <a:r>
              <a:rPr lang="ru-RU" dirty="0"/>
              <a:t>    // код, ако нито едно от условията не е изпълнено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b="1" i="1" dirty="0">
                <a:solidFill>
                  <a:schemeClr val="accent1"/>
                </a:solidFill>
              </a:rPr>
              <a:t>Тази структура позволява проверка на няколко различни стойности.</a:t>
            </a:r>
            <a:endParaRPr lang="bg-BG" b="1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421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A168-6696-9313-E676-41A6B5166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9" y="624110"/>
            <a:ext cx="9925194" cy="899890"/>
          </a:xfrm>
        </p:spPr>
        <p:txBody>
          <a:bodyPr/>
          <a:lstStyle/>
          <a:p>
            <a:r>
              <a:rPr lang="bg-BG" b="1" dirty="0"/>
              <a:t>Оператор </a:t>
            </a:r>
            <a:r>
              <a:rPr lang="en-US" b="1" dirty="0"/>
              <a:t>switch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E0C3-574D-9CFD-A9A6-748517630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1524001"/>
            <a:ext cx="10534794" cy="5116944"/>
          </a:xfrm>
        </p:spPr>
        <p:txBody>
          <a:bodyPr>
            <a:normAutofit/>
          </a:bodyPr>
          <a:lstStyle/>
          <a:p>
            <a:r>
              <a:rPr lang="ru-RU" dirty="0"/>
              <a:t>Операторът switch се използва, когато трябва да се проверяват множество стойности на една и съща променлива. </a:t>
            </a:r>
          </a:p>
          <a:p>
            <a:r>
              <a:rPr lang="ru-RU" dirty="0"/>
              <a:t>Той е по-ефективен от многожество последователни if-else конструкции.</a:t>
            </a:r>
          </a:p>
          <a:p>
            <a:pPr marL="0" indent="0">
              <a:buNone/>
            </a:pPr>
            <a:r>
              <a:rPr lang="en-US" dirty="0"/>
              <a:t>switch (</a:t>
            </a:r>
            <a:r>
              <a:rPr lang="bg-BG" dirty="0"/>
              <a:t>променлива) {</a:t>
            </a:r>
          </a:p>
          <a:p>
            <a:pPr marL="0" indent="0">
              <a:buNone/>
            </a:pPr>
            <a:r>
              <a:rPr lang="bg-BG" dirty="0"/>
              <a:t>    </a:t>
            </a:r>
            <a:r>
              <a:rPr lang="en-US" dirty="0"/>
              <a:t>case </a:t>
            </a:r>
            <a:r>
              <a:rPr lang="bg-BG" dirty="0"/>
              <a:t>стойност1:</a:t>
            </a:r>
          </a:p>
          <a:p>
            <a:pPr marL="0" indent="0">
              <a:buNone/>
            </a:pPr>
            <a:r>
              <a:rPr lang="bg-BG" dirty="0"/>
              <a:t>        // код за стойност1</a:t>
            </a:r>
          </a:p>
          <a:p>
            <a:pPr marL="0" indent="0">
              <a:buNone/>
            </a:pPr>
            <a:r>
              <a:rPr lang="bg-BG" dirty="0"/>
              <a:t>        </a:t>
            </a:r>
            <a:r>
              <a:rPr lang="en-US" dirty="0"/>
              <a:t>break;</a:t>
            </a:r>
          </a:p>
          <a:p>
            <a:pPr marL="0" indent="0">
              <a:buNone/>
            </a:pPr>
            <a:r>
              <a:rPr lang="en-US" dirty="0"/>
              <a:t>    case </a:t>
            </a:r>
            <a:r>
              <a:rPr lang="bg-BG" dirty="0"/>
              <a:t>стойност2:</a:t>
            </a:r>
          </a:p>
          <a:p>
            <a:pPr marL="0" indent="0">
              <a:buNone/>
            </a:pPr>
            <a:r>
              <a:rPr lang="bg-BG" dirty="0"/>
              <a:t>        // код за стойност2</a:t>
            </a:r>
          </a:p>
          <a:p>
            <a:pPr marL="0" indent="0">
              <a:buNone/>
            </a:pPr>
            <a:r>
              <a:rPr lang="bg-BG" dirty="0"/>
              <a:t>        </a:t>
            </a:r>
            <a:r>
              <a:rPr lang="en-US" dirty="0"/>
              <a:t>break;</a:t>
            </a:r>
          </a:p>
          <a:p>
            <a:pPr marL="0" indent="0">
              <a:buNone/>
            </a:pPr>
            <a:r>
              <a:rPr lang="en-US" dirty="0"/>
              <a:t>    default:</a:t>
            </a:r>
          </a:p>
          <a:p>
            <a:pPr marL="0" indent="0">
              <a:buNone/>
            </a:pPr>
            <a:r>
              <a:rPr lang="en-US" dirty="0"/>
              <a:t>        // </a:t>
            </a:r>
            <a:r>
              <a:rPr lang="bg-BG" dirty="0"/>
              <a:t>код в случай на липса на съвпадение при </a:t>
            </a:r>
            <a:r>
              <a:rPr lang="en-US" dirty="0"/>
              <a:t>case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}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68692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B2C6-CAE8-B7FC-8B55-35D7C8EAD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8" y="448619"/>
            <a:ext cx="9925194" cy="946072"/>
          </a:xfrm>
        </p:spPr>
        <p:txBody>
          <a:bodyPr>
            <a:normAutofit fontScale="90000"/>
          </a:bodyPr>
          <a:lstStyle/>
          <a:p>
            <a:r>
              <a:rPr lang="bg-BG" sz="3600" dirty="0"/>
              <a:t>Изпълнение на един и същ код за </a:t>
            </a:r>
            <a:br>
              <a:rPr lang="en-US" sz="3600" dirty="0"/>
            </a:br>
            <a:r>
              <a:rPr lang="bg-BG" sz="3600" dirty="0"/>
              <a:t>множество условия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7B0BE-3C40-3CF9-1586-5E417435E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145" y="1496291"/>
            <a:ext cx="10248467" cy="46366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switch (променлива) {</a:t>
            </a:r>
          </a:p>
          <a:p>
            <a:pPr marL="0" indent="0">
              <a:buNone/>
            </a:pPr>
            <a:r>
              <a:rPr lang="ru-RU" dirty="0"/>
              <a:t>    case стойност1:</a:t>
            </a:r>
          </a:p>
          <a:p>
            <a:pPr marL="0" indent="0">
              <a:buNone/>
            </a:pPr>
            <a:r>
              <a:rPr lang="ru-RU" dirty="0"/>
              <a:t>    case стойност2:</a:t>
            </a:r>
          </a:p>
          <a:p>
            <a:pPr marL="0" indent="0">
              <a:buNone/>
            </a:pPr>
            <a:r>
              <a:rPr lang="ru-RU" dirty="0"/>
              <a:t>        // код за стойност 1 и 2</a:t>
            </a:r>
          </a:p>
          <a:p>
            <a:pPr marL="0" indent="0">
              <a:buNone/>
            </a:pPr>
            <a:r>
              <a:rPr lang="ru-RU" dirty="0"/>
              <a:t>        break;</a:t>
            </a:r>
          </a:p>
          <a:p>
            <a:pPr marL="0" indent="0">
              <a:buNone/>
            </a:pPr>
            <a:r>
              <a:rPr lang="ru-RU" dirty="0"/>
              <a:t>    case стойност3:</a:t>
            </a:r>
          </a:p>
          <a:p>
            <a:pPr marL="0" indent="0">
              <a:buNone/>
            </a:pPr>
            <a:r>
              <a:rPr lang="ru-RU" dirty="0"/>
              <a:t>    case стойност4:</a:t>
            </a:r>
          </a:p>
          <a:p>
            <a:pPr marL="0" indent="0">
              <a:buNone/>
            </a:pPr>
            <a:r>
              <a:rPr lang="ru-RU" dirty="0"/>
              <a:t>        // код за стойност 3 и 4</a:t>
            </a:r>
          </a:p>
          <a:p>
            <a:pPr marL="0" indent="0">
              <a:buNone/>
            </a:pPr>
            <a:r>
              <a:rPr lang="ru-RU" dirty="0"/>
              <a:t>        break;</a:t>
            </a:r>
          </a:p>
          <a:p>
            <a:pPr marL="0" indent="0">
              <a:buNone/>
            </a:pPr>
            <a:r>
              <a:rPr lang="ru-RU" dirty="0"/>
              <a:t>    default:</a:t>
            </a:r>
          </a:p>
          <a:p>
            <a:pPr marL="0" indent="0">
              <a:buNone/>
            </a:pPr>
            <a:r>
              <a:rPr lang="ru-RU" dirty="0"/>
              <a:t>        // код в случай на липса на съвпадение при case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9271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CDD24-2376-1ABC-CB0D-0B56F9635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364" y="524542"/>
            <a:ext cx="9975272" cy="731603"/>
          </a:xfrm>
        </p:spPr>
        <p:txBody>
          <a:bodyPr>
            <a:normAutofit fontScale="90000"/>
          </a:bodyPr>
          <a:lstStyle/>
          <a:p>
            <a:r>
              <a:rPr lang="ru-RU" sz="3100" b="1" dirty="0"/>
              <a:t>Добри практики при използване на switch-case</a:t>
            </a:r>
            <a:br>
              <a:rPr lang="ru-RU" dirty="0"/>
            </a:b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659D2-DD3D-272B-3C30-71A49EAA6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655" y="1607127"/>
            <a:ext cx="10423957" cy="472633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Добра практика при използването на конструкцията за избор на вариант switch е default конструкцията да бъде поставяна на последно място, с цел програмния код да бъде по-лесно четим.</a:t>
            </a:r>
          </a:p>
          <a:p>
            <a:r>
              <a:rPr lang="ru-RU" dirty="0"/>
              <a:t>Важно е да се използват отделни case конструкции за обработка на различни ситуации.</a:t>
            </a:r>
          </a:p>
          <a:p>
            <a:r>
              <a:rPr lang="ru-RU" dirty="0"/>
              <a:t>Добре е на първо място да бъдат поставяни онези case конструкции, които обработват най-често възникващите ситуации. case конструк­циите, които обработват ситуации, възникващи по-рядко могат да бъдат поставени на последно място.</a:t>
            </a:r>
          </a:p>
          <a:p>
            <a:r>
              <a:rPr lang="ru-RU" dirty="0"/>
              <a:t>Добре е case конструкциите да бъдат подреждани в азбучен ред, ако целочислените стойности, с които се сравнява селекторът, са от символен тип.</a:t>
            </a:r>
          </a:p>
          <a:p>
            <a:r>
              <a:rPr lang="ru-RU" dirty="0"/>
              <a:t>Добре е case конструкциите да бъдат подреждани в нарастващ ред, ако целочислените стойности, с които се сравнява селекторът, са от целочислен тип.</a:t>
            </a:r>
          </a:p>
          <a:p>
            <a:r>
              <a:rPr lang="ru-RU" dirty="0"/>
              <a:t>Добре е да се използва default конструкция за ситуации, които не могат да бъдат обработени при нормално изпълнение на програ­мата.</a:t>
            </a:r>
          </a:p>
        </p:txBody>
      </p:sp>
    </p:spTree>
    <p:extLst>
      <p:ext uri="{BB962C8B-B14F-4D97-AF65-F5344CB8AC3E}">
        <p14:creationId xmlns:p14="http://schemas.microsoft.com/office/powerpoint/2010/main" val="1422574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1824C-DB02-D74B-89D5-5BE37F8DB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7" y="624110"/>
            <a:ext cx="9897485" cy="798290"/>
          </a:xfrm>
        </p:spPr>
        <p:txBody>
          <a:bodyPr/>
          <a:lstStyle/>
          <a:p>
            <a:r>
              <a:rPr lang="bg-BG" b="1" dirty="0"/>
              <a:t>Цикли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F7281-EC5C-6F27-47BA-7E20CCE4D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571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Циклите се използват за повторно изпълнение на блок от код определен брой пъти или докато условие е вярно.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Цикълът (loop) е структурата, която позволява това изпълнение без излишно писане на повтарящ се код.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Цикъл, който никога не свършва, се нарича безкраен (infinite).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865453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FA0B-EB8F-4786-A8DD-F0283166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8" y="624110"/>
            <a:ext cx="9897484" cy="65974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For </a:t>
            </a:r>
            <a:r>
              <a:rPr lang="ru-RU" b="1" dirty="0"/>
              <a:t>цикъл</a:t>
            </a:r>
            <a:br>
              <a:rPr lang="ru-RU" b="1" dirty="0"/>
            </a:b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B9C5F-41E9-473A-3D1E-58968AE27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7389" y="1570182"/>
            <a:ext cx="6215687" cy="45258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i="1" dirty="0">
                <a:solidFill>
                  <a:schemeClr val="accent1"/>
                </a:solidFill>
              </a:rPr>
              <a:t>Цикълът </a:t>
            </a:r>
            <a:r>
              <a:rPr lang="en-US" b="1" i="1" dirty="0">
                <a:solidFill>
                  <a:schemeClr val="accent1"/>
                </a:solidFill>
              </a:rPr>
              <a:t>for </a:t>
            </a:r>
            <a:r>
              <a:rPr lang="ru-RU" b="1" i="1" dirty="0">
                <a:solidFill>
                  <a:schemeClr val="accent1"/>
                </a:solidFill>
              </a:rPr>
              <a:t>се използва, когато знаем предварително колко пъти трябва да се изпълни даден блок от код.</a:t>
            </a:r>
          </a:p>
          <a:p>
            <a:pPr marL="0" indent="0">
              <a:buNone/>
            </a:pPr>
            <a:r>
              <a:rPr lang="ru-RU" dirty="0"/>
              <a:t>Синтаксис:</a:t>
            </a:r>
          </a:p>
          <a:p>
            <a:pPr marL="0" indent="0">
              <a:buNone/>
            </a:pPr>
            <a:r>
              <a:rPr lang="en-US" dirty="0"/>
              <a:t>for (</a:t>
            </a:r>
            <a:r>
              <a:rPr lang="ru-RU" dirty="0"/>
              <a:t>инициализация; условие; инкремент/декремент) {</a:t>
            </a:r>
          </a:p>
          <a:p>
            <a:pPr marL="0" indent="0">
              <a:buNone/>
            </a:pPr>
            <a:r>
              <a:rPr lang="ru-RU" dirty="0"/>
              <a:t>    // код, който се изпълнява многократно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en-US" dirty="0"/>
              <a:t>for (int i = 0; i &lt; 5; i++) {</a:t>
            </a:r>
          </a:p>
          <a:p>
            <a:pPr marL="0" indent="0">
              <a:buNone/>
            </a:pPr>
            <a:r>
              <a:rPr lang="en-US" dirty="0"/>
              <a:t>    System.out.println("i = " + i);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B3C7D-6A5A-6DB5-CD00-21CAAAD02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0747" y="1570182"/>
            <a:ext cx="4313864" cy="433366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Инициализация – задаваме началната стойност на брояча. Тази част се изпълнява само веднъж, в началото на цикъла.</a:t>
            </a:r>
          </a:p>
          <a:p>
            <a:r>
              <a:rPr lang="ru-RU" dirty="0"/>
              <a:t>Условие – логически израз, който се проверява преди всяка итерация. Ако условието е вярно (true), тялото на цикъла се изпълнява. Ако е невярно (false), цикълът приключва.</a:t>
            </a:r>
          </a:p>
          <a:p>
            <a:r>
              <a:rPr lang="ru-RU" dirty="0"/>
              <a:t>Инкремент/Декремент – изпълнява се в края на всяка итерация и обикновено променя стойността на брояча, за да приближи цикъла към края му.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06600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CFAA8-E011-F425-1AC3-318E2A00C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7" y="624110"/>
            <a:ext cx="9897485" cy="761345"/>
          </a:xfrm>
        </p:spPr>
        <p:txBody>
          <a:bodyPr/>
          <a:lstStyle/>
          <a:p>
            <a:r>
              <a:rPr lang="en-US" b="1" dirty="0"/>
              <a:t>For </a:t>
            </a:r>
            <a:r>
              <a:rPr lang="ru-RU" b="1" dirty="0"/>
              <a:t>цикъл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F5FB0-370E-7EA0-1FC3-75BF10C7B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3" y="2133600"/>
            <a:ext cx="10340830" cy="37776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всяко повторение се нарича "итерация;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броячът може да е са нарастваща или увеличаваща стъпка;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стъпката на брояча може да е различна от 1;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for циклите не работят само с числа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chemeClr val="accent1"/>
                </a:solidFill>
              </a:rPr>
              <a:t>break</a:t>
            </a:r>
            <a:r>
              <a:rPr lang="ru-RU" dirty="0"/>
              <a:t>: прекъсва изпълнението на цикъла и излиза от него веднага, дори ако условието все още е вярно;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chemeClr val="accent1"/>
                </a:solidFill>
              </a:rPr>
              <a:t>continue</a:t>
            </a:r>
            <a:r>
              <a:rPr lang="ru-RU" dirty="0"/>
              <a:t>: пропуска текущата итерация и преминава към следващата, без да прекъсва целия цикъл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28283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3522-9FA1-508D-5145-3A65C29D3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7" y="624110"/>
            <a:ext cx="9897485" cy="659745"/>
          </a:xfrm>
        </p:spPr>
        <p:txBody>
          <a:bodyPr/>
          <a:lstStyle/>
          <a:p>
            <a:r>
              <a:rPr lang="en-US" b="1" dirty="0"/>
              <a:t>While</a:t>
            </a:r>
            <a:r>
              <a:rPr lang="bg-BG" b="1" dirty="0"/>
              <a:t> цикли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7F60D-C892-F59B-2FFD-B6048A614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727" y="1496291"/>
            <a:ext cx="10303885" cy="441493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Цикълът while продължава да изпълнява даден блок от код, докато условието е вярно.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while (условие) {</a:t>
            </a:r>
          </a:p>
          <a:p>
            <a:pPr marL="0" indent="0">
              <a:buNone/>
            </a:pPr>
            <a:r>
              <a:rPr lang="ru-RU" dirty="0"/>
              <a:t>    // код, който се изпълнява многократно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/>
              <a:t>Условието трябва да дава </a:t>
            </a:r>
            <a:r>
              <a:rPr lang="en-US" dirty="0"/>
              <a:t>boolean </a:t>
            </a:r>
            <a:r>
              <a:rPr lang="bg-BG" dirty="0"/>
              <a:t>резултат.</a:t>
            </a:r>
          </a:p>
          <a:p>
            <a:pPr marL="0" indent="0">
              <a:buNone/>
            </a:pPr>
            <a:r>
              <a:rPr lang="bg-BG" dirty="0"/>
              <a:t>Семантика: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dirty="0"/>
              <a:t>изчислява се условието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false</a:t>
            </a:r>
            <a:r>
              <a:rPr lang="bg-BG" dirty="0"/>
              <a:t> –</a:t>
            </a:r>
            <a:r>
              <a:rPr lang="en-US" dirty="0"/>
              <a:t> </a:t>
            </a:r>
            <a:r>
              <a:rPr lang="bg-BG" dirty="0"/>
              <a:t>изход от цикъла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true</a:t>
            </a:r>
            <a:r>
              <a:rPr lang="bg-BG" dirty="0"/>
              <a:t> –</a:t>
            </a:r>
            <a:r>
              <a:rPr lang="en-US" dirty="0"/>
              <a:t> </a:t>
            </a:r>
            <a:r>
              <a:rPr lang="bg-BG" dirty="0"/>
              <a:t>изпълнява  се тялото на цикъла</a:t>
            </a:r>
            <a:endParaRPr lang="en-US" dirty="0"/>
          </a:p>
          <a:p>
            <a:pPr marL="0" indent="0">
              <a:buNone/>
            </a:pPr>
            <a:r>
              <a:rPr lang="ru-RU" b="1" i="1" dirty="0">
                <a:solidFill>
                  <a:schemeClr val="accent1"/>
                </a:solidFill>
              </a:rPr>
              <a:t>Ако условието на while цикъла никога не стане невярно, то цикълът ще продължи да се изпълнява безкрайно, което води до безкраен цикъл.</a:t>
            </a:r>
            <a:endParaRPr lang="en-US" b="1" i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21981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47A5-22FB-50FA-4DF6-D96A9D33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655" y="624110"/>
            <a:ext cx="9915957" cy="825999"/>
          </a:xfrm>
        </p:spPr>
        <p:txBody>
          <a:bodyPr/>
          <a:lstStyle/>
          <a:p>
            <a:r>
              <a:rPr lang="en-US" b="1" dirty="0"/>
              <a:t>Do-while </a:t>
            </a:r>
            <a:r>
              <a:rPr lang="bg-BG" b="1" dirty="0"/>
              <a:t>цикъл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B4EFD-039D-5E4F-5865-03E828D7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964" y="1653309"/>
            <a:ext cx="10294648" cy="458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/>
              <a:t>Цикълът </a:t>
            </a:r>
            <a:r>
              <a:rPr lang="en-US" dirty="0"/>
              <a:t>do-while </a:t>
            </a:r>
            <a:r>
              <a:rPr lang="bg-BG" dirty="0"/>
              <a:t>е подобен на </a:t>
            </a:r>
            <a:r>
              <a:rPr lang="en-US" dirty="0"/>
              <a:t>while, </a:t>
            </a:r>
            <a:r>
              <a:rPr lang="bg-BG" dirty="0"/>
              <a:t>но първо изпълнява блока с код поне веднъж и след това проверява условието.</a:t>
            </a:r>
          </a:p>
          <a:p>
            <a:pPr marL="0" indent="0">
              <a:buNone/>
            </a:pPr>
            <a:r>
              <a:rPr lang="bg-BG" dirty="0"/>
              <a:t>Синтаксис:</a:t>
            </a:r>
          </a:p>
          <a:p>
            <a:pPr marL="0" indent="0">
              <a:buNone/>
            </a:pPr>
            <a:r>
              <a:rPr lang="en-US" dirty="0"/>
              <a:t>do {</a:t>
            </a:r>
          </a:p>
          <a:p>
            <a:pPr marL="0" indent="0">
              <a:buNone/>
            </a:pPr>
            <a:r>
              <a:rPr lang="en-US" dirty="0"/>
              <a:t>    // </a:t>
            </a:r>
            <a:r>
              <a:rPr lang="bg-BG" dirty="0"/>
              <a:t>код</a:t>
            </a:r>
          </a:p>
          <a:p>
            <a:pPr marL="0" indent="0">
              <a:buNone/>
            </a:pPr>
            <a:r>
              <a:rPr lang="bg-BG" dirty="0"/>
              <a:t>} </a:t>
            </a:r>
            <a:r>
              <a:rPr lang="en-US" dirty="0"/>
              <a:t>while (</a:t>
            </a:r>
            <a:r>
              <a:rPr lang="bg-BG" dirty="0"/>
              <a:t>условие);</a:t>
            </a:r>
            <a:endParaRPr lang="en-US" dirty="0"/>
          </a:p>
          <a:p>
            <a:pPr marL="0" indent="0">
              <a:buNone/>
            </a:pPr>
            <a:r>
              <a:rPr lang="bg-BG" dirty="0"/>
              <a:t>Тяло на цикъла: блокът от код вътре в </a:t>
            </a:r>
            <a:r>
              <a:rPr lang="en-US" dirty="0"/>
              <a:t>do </a:t>
            </a:r>
            <a:r>
              <a:rPr lang="bg-BG" dirty="0"/>
              <a:t>се изпълнява първоначално, дори ако условието е невярно.</a:t>
            </a:r>
          </a:p>
          <a:p>
            <a:pPr marL="0" indent="0">
              <a:buNone/>
            </a:pPr>
            <a:r>
              <a:rPr lang="bg-BG" dirty="0"/>
              <a:t>Условие: логически израз, който се проверява след всяка итерация. Ако условието е вярно, цикълът продължава да се изпълнява. Ако е невярно, цикълът приключва.</a:t>
            </a:r>
          </a:p>
          <a:p>
            <a:pPr marL="0" indent="0">
              <a:buNone/>
            </a:pPr>
            <a:r>
              <a:rPr lang="ru-RU" b="1" i="1" dirty="0">
                <a:solidFill>
                  <a:schemeClr val="accent1"/>
                </a:solidFill>
              </a:rPr>
              <a:t>Ако условието на do-while цикъла никога не стане невярно, това води до безкраен цикъл.</a:t>
            </a:r>
            <a:endParaRPr lang="bg-BG" b="1" i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58669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19FA-7943-D893-D96E-8E1D665E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Какво научих днес: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BF5BE-3728-7EE7-446A-CAB350FBB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Аритметични оператори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Логически оператори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If-else</a:t>
            </a:r>
            <a:r>
              <a:rPr lang="ru-RU" dirty="0"/>
              <a:t> оператори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Swich</a:t>
            </a:r>
            <a:r>
              <a:rPr lang="en-US" dirty="0"/>
              <a:t> </a:t>
            </a:r>
            <a:r>
              <a:rPr lang="bg-BG" dirty="0"/>
              <a:t>оператори</a:t>
            </a:r>
            <a:endParaRPr lang="ru-RU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For </a:t>
            </a:r>
            <a:r>
              <a:rPr lang="bg-BG" dirty="0"/>
              <a:t>цикъл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While </a:t>
            </a:r>
            <a:r>
              <a:rPr lang="bg-BG" dirty="0"/>
              <a:t>цикъл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Do-while </a:t>
            </a:r>
            <a:r>
              <a:rPr lang="bg-BG" dirty="0"/>
              <a:t>цикъл</a:t>
            </a:r>
            <a:endParaRPr lang="ru-RU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0618445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10570</TotalTime>
  <Words>2053</Words>
  <Application>Microsoft Office PowerPoint</Application>
  <PresentationFormat>Widescreen</PresentationFormat>
  <Paragraphs>296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Century Gothic</vt:lpstr>
      <vt:lpstr>Consolas</vt:lpstr>
      <vt:lpstr>Wingdings</vt:lpstr>
      <vt:lpstr>Wingdings 3</vt:lpstr>
      <vt:lpstr>Wisp</vt:lpstr>
      <vt:lpstr>Упражнение 2:  Работа с условни, аритметични и логически оператори.  Работа с цикли. </vt:lpstr>
      <vt:lpstr>Да си припомним какво е:</vt:lpstr>
      <vt:lpstr>Упражнението днес:</vt:lpstr>
      <vt:lpstr>Оператори </vt:lpstr>
      <vt:lpstr>Унарни оператори </vt:lpstr>
      <vt:lpstr>инкрементиране ++ декрементиране --</vt:lpstr>
      <vt:lpstr>Аритметични оператори </vt:lpstr>
      <vt:lpstr>Аритметични операции: + и -</vt:lpstr>
      <vt:lpstr>Аритметични операции: * и /</vt:lpstr>
      <vt:lpstr> Аритметични операции: %%</vt:lpstr>
      <vt:lpstr>Операторите за сравнение </vt:lpstr>
      <vt:lpstr> Логическите оператори </vt:lpstr>
      <vt:lpstr>Операции с логически оператори</vt:lpstr>
      <vt:lpstr>Условни оператори в Java </vt:lpstr>
      <vt:lpstr>Прости проверки if</vt:lpstr>
      <vt:lpstr>Оператор if-else</vt:lpstr>
      <vt:lpstr>Вложени if конструкции</vt:lpstr>
      <vt:lpstr>Серия от проверки if-else if-else </vt:lpstr>
      <vt:lpstr>Оператор switch</vt:lpstr>
      <vt:lpstr>Изпълнение на един и същ код за  множество условия</vt:lpstr>
      <vt:lpstr>Добри практики при използване на switch-case </vt:lpstr>
      <vt:lpstr>Цикли </vt:lpstr>
      <vt:lpstr>For цикъл </vt:lpstr>
      <vt:lpstr>For цикъл</vt:lpstr>
      <vt:lpstr>While цикли</vt:lpstr>
      <vt:lpstr>Do-while цикъл</vt:lpstr>
      <vt:lpstr>Какво научих днес: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Лилия Андонова</dc:creator>
  <cp:lastModifiedBy>Лилия Андонова</cp:lastModifiedBy>
  <cp:revision>28</cp:revision>
  <dcterms:created xsi:type="dcterms:W3CDTF">2024-10-04T03:41:48Z</dcterms:created>
  <dcterms:modified xsi:type="dcterms:W3CDTF">2025-09-27T13:23:30Z</dcterms:modified>
</cp:coreProperties>
</file>