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84" r:id="rId3"/>
    <p:sldId id="257" r:id="rId4"/>
    <p:sldId id="287" r:id="rId5"/>
    <p:sldId id="288" r:id="rId6"/>
    <p:sldId id="289" r:id="rId7"/>
    <p:sldId id="291" r:id="rId8"/>
    <p:sldId id="285" r:id="rId9"/>
    <p:sldId id="258" r:id="rId10"/>
    <p:sldId id="290" r:id="rId11"/>
    <p:sldId id="259" r:id="rId12"/>
    <p:sldId id="260" r:id="rId13"/>
    <p:sldId id="261" r:id="rId14"/>
    <p:sldId id="262" r:id="rId15"/>
    <p:sldId id="263" r:id="rId16"/>
    <p:sldId id="264" r:id="rId17"/>
    <p:sldId id="28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83" d="100"/>
          <a:sy n="83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70FF0-280C-4FCA-9FFD-8A34B0D46C4F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5047A-4D0A-41DD-A530-847E8C2D7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04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346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703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030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547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900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238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533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2214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371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160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967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2175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4437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8985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741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484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DBD0-B3AD-4520-B0CF-DFA4E7D2178C}" type="datetimeFigureOut">
              <a:rPr lang="bg-BG" smtClean="0"/>
              <a:t>2.11.2024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6B965A-6989-4459-9675-BB5D1749C4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19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48A3-04CB-5848-5BBA-80FB09BE3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954338"/>
            <a:ext cx="8915399" cy="3823043"/>
          </a:xfrm>
        </p:spPr>
        <p:txBody>
          <a:bodyPr>
            <a:normAutofit/>
          </a:bodyPr>
          <a:lstStyle/>
          <a:p>
            <a:r>
              <a:rPr lang="ru-RU" sz="3200" b="1" dirty="0"/>
              <a:t>Упражнение </a:t>
            </a:r>
            <a:r>
              <a:rPr lang="en-US" sz="3200" b="1" dirty="0"/>
              <a:t>3</a:t>
            </a:r>
            <a:r>
              <a:rPr lang="ru-RU" sz="3200" b="1" dirty="0"/>
              <a:t>: </a:t>
            </a:r>
            <a:br>
              <a:rPr lang="ru-RU" sz="3200" dirty="0"/>
            </a:br>
            <a:r>
              <a:rPr lang="ru-RU" sz="3200" dirty="0"/>
              <a:t>Вградени методи за работа с масиви. Клас „Arrays“. Подаване на масив като параметър на метод. Отпечатване, сравнение и сортиране на масиви. Търсене в масив.</a:t>
            </a:r>
            <a:endParaRPr lang="bg-BG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8906F-6DAE-46B2-E939-EB991D6AF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bg-BG" dirty="0"/>
              <a:t>инж. Лилия Андонова</a:t>
            </a:r>
          </a:p>
          <a:p>
            <a:pPr algn="r"/>
            <a:r>
              <a:rPr lang="bg-BG" dirty="0"/>
              <a:t>ТУ – София</a:t>
            </a:r>
          </a:p>
          <a:p>
            <a:pPr algn="r"/>
            <a:r>
              <a:rPr lang="bg-BG" dirty="0"/>
              <a:t>ФКСТ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48DC3-5E79-D6EF-E8D0-30DCF73F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800" y="127224"/>
            <a:ext cx="28479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6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AF44-AA7B-DDE6-E96B-0B94DAB1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83" y="624110"/>
            <a:ext cx="9934430" cy="742872"/>
          </a:xfrm>
        </p:spPr>
        <p:txBody>
          <a:bodyPr/>
          <a:lstStyle/>
          <a:p>
            <a:r>
              <a:rPr lang="bg-BG" b="1" dirty="0"/>
              <a:t>Да си припомним какво е: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2FF7-F3D1-2DC4-CEB5-1F1DBAA9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Аритметични оператори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Логически оператори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If-else</a:t>
            </a:r>
            <a:r>
              <a:rPr lang="ru-RU" dirty="0"/>
              <a:t> оператори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Swich</a:t>
            </a:r>
            <a:r>
              <a:rPr lang="en-US" dirty="0"/>
              <a:t> </a:t>
            </a:r>
            <a:r>
              <a:rPr lang="bg-BG" dirty="0"/>
              <a:t>оператори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For </a:t>
            </a:r>
            <a:r>
              <a:rPr lang="bg-BG" dirty="0"/>
              <a:t>цикъл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While </a:t>
            </a:r>
            <a:r>
              <a:rPr lang="bg-BG" dirty="0"/>
              <a:t>цикъл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Do-while </a:t>
            </a:r>
            <a:r>
              <a:rPr lang="bg-BG" dirty="0"/>
              <a:t>цикъл</a:t>
            </a:r>
            <a:endParaRPr lang="ru-RU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5477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E6E3-9EE3-F7A3-F96E-3C674270B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872181"/>
          </a:xfrm>
        </p:spPr>
        <p:txBody>
          <a:bodyPr/>
          <a:lstStyle/>
          <a:p>
            <a:r>
              <a:rPr lang="bg-BG" b="1" dirty="0"/>
              <a:t>Упражнението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D37F-1C35-FC2A-E533-A7732BE38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 „Arrays“. </a:t>
            </a:r>
            <a:endParaRPr lang="en-US" b="1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Вградени методи за работа с масиви. 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Подаване на масив като параметър на метод. 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Отпечатване, сравнение и сортиране на масиви. 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Търсене в масив.</a:t>
            </a:r>
            <a:endParaRPr lang="bg-BG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34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4541-667E-DAF9-25CF-C00796E7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2" y="624110"/>
            <a:ext cx="9906720" cy="739842"/>
          </a:xfrm>
        </p:spPr>
        <p:txBody>
          <a:bodyPr/>
          <a:lstStyle/>
          <a:p>
            <a:r>
              <a:rPr lang="ru-RU" b="1" dirty="0"/>
              <a:t>Какво е масив?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B5A3-5434-86F2-0E1C-0999D0F4E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564" y="2281382"/>
            <a:ext cx="6099512" cy="3629840"/>
          </a:xfrm>
        </p:spPr>
        <p:txBody>
          <a:bodyPr/>
          <a:lstStyle/>
          <a:p>
            <a:r>
              <a:rPr lang="ru-RU" dirty="0"/>
              <a:t>Масивът (array) е структура от данни, която съхранява фиксиран брой елементи от един и същ тип. </a:t>
            </a:r>
            <a:endParaRPr lang="en-US" dirty="0"/>
          </a:p>
          <a:p>
            <a:r>
              <a:rPr lang="ru-RU" dirty="0"/>
              <a:t>Масивът е референтен тип.</a:t>
            </a:r>
          </a:p>
          <a:p>
            <a:r>
              <a:rPr lang="ru-RU" dirty="0"/>
              <a:t>Всеки елемент в масива се достъпва чрез индекс, който започва от 0 и завършва дължината – 1 (</a:t>
            </a:r>
            <a:r>
              <a:rPr lang="en-US" dirty="0" err="1"/>
              <a:t>numbers.length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Масивите са удобни за съхраняване на списъци от елементи, като числа, символи или обекти.</a:t>
            </a:r>
          </a:p>
          <a:p>
            <a:endParaRPr lang="bg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AB6026-3DDF-AE00-F092-E1B3606DE8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91864" y="2993448"/>
            <a:ext cx="4761482" cy="16709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3482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D3D7-72FC-8D3C-03D8-B703965B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2" y="624110"/>
            <a:ext cx="9906720" cy="881417"/>
          </a:xfrm>
        </p:spPr>
        <p:txBody>
          <a:bodyPr/>
          <a:lstStyle/>
          <a:p>
            <a:r>
              <a:rPr lang="bg-BG" b="1" dirty="0"/>
              <a:t>Създаване на масив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8582-602C-56EB-8CE4-82F5D2489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564" y="1838036"/>
            <a:ext cx="4928320" cy="4395854"/>
          </a:xfrm>
        </p:spPr>
        <p:txBody>
          <a:bodyPr>
            <a:normAutofit/>
          </a:bodyPr>
          <a:lstStyle/>
          <a:p>
            <a:r>
              <a:rPr lang="bg-BG" sz="2000" dirty="0"/>
              <a:t>Деклариране на масив</a:t>
            </a:r>
          </a:p>
          <a:p>
            <a:endParaRPr lang="bg-BG" sz="2000" dirty="0"/>
          </a:p>
          <a:p>
            <a:r>
              <a:rPr lang="bg-BG" sz="2000" dirty="0"/>
              <a:t>Дефиниране на масив</a:t>
            </a:r>
          </a:p>
          <a:p>
            <a:endParaRPr lang="bg-BG" sz="2000" dirty="0"/>
          </a:p>
          <a:p>
            <a:r>
              <a:rPr lang="bg-BG" sz="2000" dirty="0"/>
              <a:t>Инициализиране на масив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7B127-BF5C-1095-B20E-23560A8CE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854" y="1838036"/>
            <a:ext cx="5772727" cy="4395854"/>
          </a:xfrm>
        </p:spPr>
        <p:txBody>
          <a:bodyPr>
            <a:normAutofit/>
          </a:bodyPr>
          <a:lstStyle/>
          <a:p>
            <a:r>
              <a:rPr lang="ru-RU" sz="2000" dirty="0"/>
              <a:t>тип[] имеНаМасива;</a:t>
            </a:r>
          </a:p>
          <a:p>
            <a:endParaRPr lang="ru-RU" sz="2000" dirty="0"/>
          </a:p>
          <a:p>
            <a:r>
              <a:rPr lang="ru-RU" sz="2000" dirty="0"/>
              <a:t>тип[] имеНаМасива = new тип[размер];</a:t>
            </a:r>
          </a:p>
          <a:p>
            <a:endParaRPr lang="ru-RU" sz="2000" dirty="0"/>
          </a:p>
          <a:p>
            <a:r>
              <a:rPr lang="en-US" sz="2000" dirty="0"/>
              <a:t>int[] numbers = {1, 2, 3, 4, 5};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50084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A110-F1E4-CFCA-4D19-B0F8C329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789054"/>
          </a:xfrm>
        </p:spPr>
        <p:txBody>
          <a:bodyPr/>
          <a:lstStyle/>
          <a:p>
            <a:r>
              <a:rPr lang="bg-BG" b="1" dirty="0"/>
              <a:t>Достъп и промяна на елемент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15A7-CB5D-8E8E-E019-7D159D953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4" y="2133600"/>
            <a:ext cx="10396248" cy="3777622"/>
          </a:xfrm>
        </p:spPr>
        <p:txBody>
          <a:bodyPr/>
          <a:lstStyle/>
          <a:p>
            <a:r>
              <a:rPr lang="ru-RU" b="1" dirty="0"/>
              <a:t>Достъп до елементите на масива</a:t>
            </a:r>
          </a:p>
          <a:p>
            <a:pPr marL="0" indent="0">
              <a:buNone/>
            </a:pPr>
            <a:r>
              <a:rPr lang="ru-RU" dirty="0"/>
              <a:t>	Можем да достъпваме елементите в масива чрез индексиране. Индексите започват от 0 и стигат до размер - 1.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sz="1600" i="1" dirty="0"/>
              <a:t>int[] numbers = {10, 20, 30, 40, 50};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</a:t>
            </a:r>
            <a:r>
              <a:rPr lang="en-US" sz="1600" i="1" dirty="0"/>
              <a:t>System.out.println(numbers[0]); // </a:t>
            </a:r>
            <a:r>
              <a:rPr lang="ru-RU" sz="1600" i="1" dirty="0"/>
              <a:t>Извежда 10</a:t>
            </a:r>
          </a:p>
          <a:p>
            <a:pPr marL="0" indent="0">
              <a:buNone/>
            </a:pPr>
            <a:r>
              <a:rPr lang="ru-RU" sz="1600" i="1" dirty="0"/>
              <a:t>	</a:t>
            </a:r>
            <a:r>
              <a:rPr lang="en-US" sz="1600" i="1" dirty="0"/>
              <a:t>System.out.println(numbers[4]); // </a:t>
            </a:r>
            <a:r>
              <a:rPr lang="ru-RU" sz="1600" i="1" dirty="0"/>
              <a:t>Извежда 50</a:t>
            </a:r>
          </a:p>
          <a:p>
            <a:r>
              <a:rPr lang="ru-RU" b="1" dirty="0"/>
              <a:t>Промяна на елемент в масива</a:t>
            </a:r>
          </a:p>
          <a:p>
            <a:pPr marL="0" indent="0">
              <a:buNone/>
            </a:pPr>
            <a:r>
              <a:rPr lang="ru-RU" dirty="0"/>
              <a:t>	Можем да променяме стойностите в масива, като зададем нова стойност за даден индекс.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sz="1600" i="1" dirty="0"/>
              <a:t>numbers[1] = 25; // Задаваме нова стойност на втория елемент</a:t>
            </a:r>
            <a:endParaRPr lang="bg-BG" sz="1600" i="1" dirty="0"/>
          </a:p>
        </p:txBody>
      </p:sp>
    </p:spTree>
    <p:extLst>
      <p:ext uri="{BB962C8B-B14F-4D97-AF65-F5344CB8AC3E}">
        <p14:creationId xmlns:p14="http://schemas.microsoft.com/office/powerpoint/2010/main" val="295784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DE43-CEDB-D540-686C-A56B506C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624110"/>
            <a:ext cx="9980612" cy="705926"/>
          </a:xfrm>
        </p:spPr>
        <p:txBody>
          <a:bodyPr/>
          <a:lstStyle/>
          <a:p>
            <a:r>
              <a:rPr lang="bg-BG" dirty="0"/>
              <a:t>Двумерни масиви (Матрици)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FECA-F63A-3136-7D0A-7AE961AD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1330036"/>
            <a:ext cx="11286836" cy="5126182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bg-BG" dirty="0"/>
              <a:t>поддържа </a:t>
            </a:r>
            <a:r>
              <a:rPr lang="bg-BG" b="1" i="1" dirty="0"/>
              <a:t>многомерни масиви</a:t>
            </a:r>
            <a:r>
              <a:rPr lang="bg-BG" dirty="0"/>
              <a:t>. Най-често използваният многомерен масив е </a:t>
            </a:r>
            <a:r>
              <a:rPr lang="bg-BG" b="1" i="1" dirty="0"/>
              <a:t>двумерен масив (матрица)</a:t>
            </a:r>
            <a:r>
              <a:rPr lang="bg-BG" dirty="0"/>
              <a:t>, който може да се представи като таблица с редове и колони.</a:t>
            </a:r>
          </a:p>
          <a:p>
            <a:r>
              <a:rPr lang="bg-BG" b="1" dirty="0"/>
              <a:t>Създаване на двумерен масив: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sz="1700" i="1" dirty="0"/>
              <a:t>int[][] matrix = new int[3][3]; // </a:t>
            </a:r>
            <a:r>
              <a:rPr lang="bg-BG" sz="1700" i="1" dirty="0"/>
              <a:t>Матрица с 3 реда и 3 колони</a:t>
            </a:r>
          </a:p>
          <a:p>
            <a:r>
              <a:rPr lang="bg-BG" b="1" dirty="0"/>
              <a:t>Инициализиране на двумерен масив: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sz="1700" i="1" dirty="0"/>
              <a:t>int[][] matrix = {    {1, 2, 3},    {4, 5, 6},    {7, 8, 9}};</a:t>
            </a:r>
            <a:endParaRPr lang="bg-BG" sz="1700" i="1" dirty="0"/>
          </a:p>
          <a:p>
            <a:r>
              <a:rPr lang="bg-BG" b="1" dirty="0"/>
              <a:t>Достъп до елемент в двумерен масив: </a:t>
            </a:r>
          </a:p>
          <a:p>
            <a:pPr marL="0" indent="0">
              <a:buNone/>
            </a:pPr>
            <a:r>
              <a:rPr lang="bg-BG" sz="1700" i="1" dirty="0"/>
              <a:t>	</a:t>
            </a:r>
            <a:r>
              <a:rPr lang="en-US" sz="1700" i="1" dirty="0"/>
              <a:t>System.out.println(matrix[1][2]); // </a:t>
            </a:r>
            <a:r>
              <a:rPr lang="bg-BG" sz="1700" i="1" dirty="0"/>
              <a:t>Достъпва елемента на втория ред и третата колона (стойност 6)</a:t>
            </a:r>
          </a:p>
          <a:p>
            <a:r>
              <a:rPr lang="bg-BG" b="1" dirty="0"/>
              <a:t>Обхождане на двуизмерен масив: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sz="1700" i="1" dirty="0"/>
              <a:t>for (int i = 0; i &lt; matrix.length; i++) {    </a:t>
            </a:r>
            <a:endParaRPr lang="bg-BG" sz="1700" i="1" dirty="0"/>
          </a:p>
          <a:p>
            <a:pPr marL="0" indent="0">
              <a:buNone/>
            </a:pPr>
            <a:r>
              <a:rPr lang="bg-BG" sz="1700" i="1" dirty="0"/>
              <a:t>		</a:t>
            </a:r>
            <a:r>
              <a:rPr lang="en-US" sz="1700" i="1" dirty="0"/>
              <a:t>for (int j = 0; j &lt; matrix[i].length; j++) </a:t>
            </a:r>
            <a:endParaRPr lang="bg-BG" sz="1700" i="1" dirty="0"/>
          </a:p>
          <a:p>
            <a:pPr marL="0" indent="0">
              <a:buNone/>
            </a:pPr>
            <a:r>
              <a:rPr lang="bg-BG" sz="1700" i="1" dirty="0"/>
              <a:t>		</a:t>
            </a:r>
            <a:r>
              <a:rPr lang="en-US" sz="1700" i="1" dirty="0"/>
              <a:t>{        System.out.print(matrix[i][j] + " ");   </a:t>
            </a:r>
            <a:endParaRPr lang="bg-BG" sz="1700" i="1" dirty="0"/>
          </a:p>
          <a:p>
            <a:pPr marL="0" indent="0">
              <a:buNone/>
            </a:pPr>
            <a:r>
              <a:rPr lang="en-US" sz="1700" i="1" dirty="0"/>
              <a:t> </a:t>
            </a:r>
            <a:r>
              <a:rPr lang="bg-BG" sz="1700" i="1" dirty="0"/>
              <a:t>		</a:t>
            </a:r>
            <a:r>
              <a:rPr lang="en-US" sz="1700" i="1" dirty="0"/>
              <a:t>}    System.out.println();}</a:t>
            </a:r>
            <a:endParaRPr lang="bg-BG" sz="1700" i="1" dirty="0"/>
          </a:p>
        </p:txBody>
      </p:sp>
    </p:spTree>
    <p:extLst>
      <p:ext uri="{BB962C8B-B14F-4D97-AF65-F5344CB8AC3E}">
        <p14:creationId xmlns:p14="http://schemas.microsoft.com/office/powerpoint/2010/main" val="283633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E46F-A1E3-D2C3-D1E0-7CE33CAE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8167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Класът </a:t>
            </a:r>
            <a:r>
              <a:rPr lang="en-US" b="1" dirty="0"/>
              <a:t>Arrays </a:t>
            </a:r>
            <a:r>
              <a:rPr lang="ru-RU" b="1" dirty="0"/>
              <a:t>в </a:t>
            </a:r>
            <a:r>
              <a:rPr lang="en-US" b="1" dirty="0"/>
              <a:t>Java</a:t>
            </a:r>
            <a:br>
              <a:rPr lang="en-US" dirty="0"/>
            </a:b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C94DC-9E3E-56BD-B46B-44E9D2CBC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073" y="1607127"/>
            <a:ext cx="10880436" cy="4756728"/>
          </a:xfrm>
        </p:spPr>
        <p:txBody>
          <a:bodyPr>
            <a:normAutofit/>
          </a:bodyPr>
          <a:lstStyle/>
          <a:p>
            <a:r>
              <a:rPr lang="ru-RU" dirty="0"/>
              <a:t>Класът </a:t>
            </a:r>
            <a:r>
              <a:rPr lang="en-US" dirty="0"/>
              <a:t>Arrays </a:t>
            </a:r>
            <a:r>
              <a:rPr lang="ru-RU" dirty="0"/>
              <a:t>е част от пакета </a:t>
            </a:r>
            <a:r>
              <a:rPr lang="en-US" dirty="0"/>
              <a:t>java.util</a:t>
            </a:r>
            <a:r>
              <a:rPr lang="bg-BG" dirty="0"/>
              <a:t>.</a:t>
            </a:r>
          </a:p>
          <a:p>
            <a:r>
              <a:rPr lang="bg-BG" dirty="0"/>
              <a:t>С</a:t>
            </a:r>
            <a:r>
              <a:rPr lang="ru-RU" dirty="0"/>
              <a:t>ъдържа статични методи за манипулиране с масиви. </a:t>
            </a:r>
          </a:p>
          <a:p>
            <a:r>
              <a:rPr lang="ru-RU" dirty="0"/>
              <a:t>Тези методи са удобни за работа с масиви, като включват отпечатване на съдържанието на масиви, сортиране, сравняване, търсене на елементи и други полезни операции.</a:t>
            </a:r>
          </a:p>
          <a:p>
            <a:r>
              <a:rPr lang="en-US" dirty="0"/>
              <a:t>import java.util.Arrays;</a:t>
            </a:r>
          </a:p>
        </p:txBody>
      </p:sp>
    </p:spTree>
    <p:extLst>
      <p:ext uri="{BB962C8B-B14F-4D97-AF65-F5344CB8AC3E}">
        <p14:creationId xmlns:p14="http://schemas.microsoft.com/office/powerpoint/2010/main" val="2781043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DAEF-5163-4709-5775-A83EB91D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64" y="624110"/>
            <a:ext cx="9888247" cy="678217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Методи (1)</a:t>
            </a:r>
            <a:br>
              <a:rPr lang="ru-RU" b="1" i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9B113-8F00-7587-4C14-37280FC5A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655" y="1376218"/>
            <a:ext cx="10931956" cy="5153891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b="1" dirty="0"/>
              <a:t>Arrays.sort()</a:t>
            </a:r>
            <a:r>
              <a:rPr lang="ru-RU" dirty="0"/>
              <a:t> – Сортиране на масив. Методът sort() сортира елементите в масива в нарастващ ред. </a:t>
            </a:r>
          </a:p>
          <a:p>
            <a:pPr marL="0" indent="0" algn="just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numbers = {5, 3, 8, 1, 2};</a:t>
            </a:r>
            <a:endParaRPr lang="bg-BG" sz="1600" i="1" dirty="0"/>
          </a:p>
          <a:p>
            <a:pPr marL="0" indent="0" algn="just">
              <a:buNone/>
            </a:pPr>
            <a:r>
              <a:rPr lang="bg-BG" sz="1600" i="1" dirty="0"/>
              <a:t>		</a:t>
            </a:r>
            <a:r>
              <a:rPr lang="en-US" sz="1600" i="1" dirty="0"/>
              <a:t>Arrays.sort(numbers);</a:t>
            </a:r>
            <a:endParaRPr lang="bg-BG" sz="1600" i="1" dirty="0"/>
          </a:p>
          <a:p>
            <a:pPr marL="0" indent="0" algn="just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System.out.println(Arrays.toString(numbers)); // </a:t>
            </a:r>
            <a:r>
              <a:rPr lang="bg-BG" sz="1600" i="1" dirty="0"/>
              <a:t>Изход: [1, 2, 3, 5, 8]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Arrays.binarySearch() </a:t>
            </a:r>
            <a:r>
              <a:rPr lang="en-US" dirty="0"/>
              <a:t>– </a:t>
            </a:r>
            <a:r>
              <a:rPr lang="bg-BG" dirty="0"/>
              <a:t>Бинарно търсене. Методът </a:t>
            </a:r>
            <a:r>
              <a:rPr lang="en-US" dirty="0"/>
              <a:t>binarySearch() </a:t>
            </a:r>
            <a:r>
              <a:rPr lang="bg-BG" dirty="0"/>
              <a:t>се използва за намиране на индекс на елемент в сортиран масив. Връща индекса на намерения елемент или отрицателна стойност, ако елементът не съществува в масива.</a:t>
            </a:r>
          </a:p>
          <a:p>
            <a:pPr marL="0" indent="0" algn="just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numbers = {1, 2, 3, 5, 8};</a:t>
            </a:r>
            <a:endParaRPr lang="bg-BG" sz="1600" i="1" dirty="0"/>
          </a:p>
          <a:p>
            <a:pPr marL="0" indent="0" algn="just">
              <a:buNone/>
            </a:pPr>
            <a:r>
              <a:rPr lang="bg-BG" sz="1600" i="1" dirty="0"/>
              <a:t>		</a:t>
            </a:r>
            <a:r>
              <a:rPr lang="en-US" sz="1600" i="1" dirty="0"/>
              <a:t>int index = Arrays.binarySearch(numbers, 3);</a:t>
            </a:r>
            <a:endParaRPr lang="bg-BG" sz="1600" i="1" dirty="0"/>
          </a:p>
          <a:p>
            <a:pPr marL="0" indent="0" algn="just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System.out.println("Index of 3: " + index); // </a:t>
            </a:r>
            <a:r>
              <a:rPr lang="bg-BG" sz="1600" i="1" dirty="0"/>
              <a:t>Изход: </a:t>
            </a:r>
            <a:r>
              <a:rPr lang="en-US" sz="1600" i="1" dirty="0"/>
              <a:t>Index of 3: 2</a:t>
            </a:r>
            <a:endParaRPr lang="bg-BG" sz="1600" i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Arrays.fill() </a:t>
            </a:r>
            <a:r>
              <a:rPr lang="en-US" dirty="0"/>
              <a:t>– </a:t>
            </a:r>
            <a:r>
              <a:rPr lang="bg-BG" dirty="0"/>
              <a:t>Запълване на масив. Методът </a:t>
            </a:r>
            <a:r>
              <a:rPr lang="en-US" dirty="0"/>
              <a:t>fill() </a:t>
            </a:r>
            <a:r>
              <a:rPr lang="bg-BG" dirty="0"/>
              <a:t>позволява да запълним всички елементи на масив с една и съща стойност.</a:t>
            </a:r>
          </a:p>
          <a:p>
            <a:pPr marL="0" indent="0" algn="just">
              <a:buNone/>
            </a:pPr>
            <a:r>
              <a:rPr lang="bg-BG" sz="1700" i="1" dirty="0"/>
              <a:t>		</a:t>
            </a:r>
            <a:r>
              <a:rPr lang="en-US" sz="1700" i="1" dirty="0"/>
              <a:t>int[] numbers = new int[5];</a:t>
            </a:r>
            <a:endParaRPr lang="bg-BG" sz="1700" i="1" dirty="0"/>
          </a:p>
          <a:p>
            <a:pPr marL="0" indent="0" algn="just">
              <a:buNone/>
            </a:pPr>
            <a:r>
              <a:rPr lang="bg-BG" sz="1700" i="1" dirty="0"/>
              <a:t>		</a:t>
            </a:r>
            <a:r>
              <a:rPr lang="en-US" sz="1700" i="1" dirty="0"/>
              <a:t>Arrays.fill(numbers, 7);</a:t>
            </a:r>
            <a:endParaRPr lang="bg-BG" sz="1700" i="1" dirty="0"/>
          </a:p>
          <a:p>
            <a:pPr marL="0" indent="0" algn="just">
              <a:buNone/>
            </a:pPr>
            <a:r>
              <a:rPr lang="bg-BG" sz="1700" i="1" dirty="0"/>
              <a:t>		</a:t>
            </a:r>
            <a:r>
              <a:rPr lang="en-US" sz="1700" i="1" dirty="0"/>
              <a:t>System.out.println(Arrays.toString(numbers)); // </a:t>
            </a:r>
            <a:r>
              <a:rPr lang="bg-BG" sz="1700" i="1" dirty="0"/>
              <a:t>Изход: [7, 7, 7, 7, 7]</a:t>
            </a:r>
          </a:p>
        </p:txBody>
      </p:sp>
    </p:spTree>
    <p:extLst>
      <p:ext uri="{BB962C8B-B14F-4D97-AF65-F5344CB8AC3E}">
        <p14:creationId xmlns:p14="http://schemas.microsoft.com/office/powerpoint/2010/main" val="313530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FA20-553B-99BD-F87A-AFE5BE22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624110"/>
            <a:ext cx="9897485" cy="779817"/>
          </a:xfrm>
        </p:spPr>
        <p:txBody>
          <a:bodyPr/>
          <a:lstStyle/>
          <a:p>
            <a:r>
              <a:rPr lang="bg-BG" b="1" dirty="0"/>
              <a:t>Методи (2)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4295-328A-08DB-7D02-8815ABED6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127" y="1403927"/>
            <a:ext cx="11157528" cy="527396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Arrays.equals() </a:t>
            </a:r>
            <a:r>
              <a:rPr lang="en-US" dirty="0"/>
              <a:t>– </a:t>
            </a:r>
            <a:r>
              <a:rPr lang="bg-BG" dirty="0"/>
              <a:t>Сравняване на масиви. Методът </a:t>
            </a:r>
            <a:r>
              <a:rPr lang="en-US" dirty="0"/>
              <a:t>equals() </a:t>
            </a:r>
            <a:r>
              <a:rPr lang="bg-BG" dirty="0"/>
              <a:t>сравнява два масива и връща </a:t>
            </a:r>
            <a:r>
              <a:rPr lang="en-US" dirty="0"/>
              <a:t>true, </a:t>
            </a:r>
            <a:r>
              <a:rPr lang="bg-BG" dirty="0"/>
              <a:t>ако те съдържат същите елементи в същия ред.</a:t>
            </a:r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array1 = {1, 2, 3};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array2 = {1, 2, 3};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System.out.println(Arrays.equals(array1, array2)); // </a:t>
            </a:r>
            <a:r>
              <a:rPr lang="bg-BG" sz="1600" i="1" dirty="0"/>
              <a:t>Изход: </a:t>
            </a:r>
            <a:r>
              <a:rPr lang="en-US" sz="1600" i="1" dirty="0"/>
              <a:t>true</a:t>
            </a:r>
            <a:endParaRPr lang="bg-BG" sz="16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Arrays.copyOf() </a:t>
            </a:r>
            <a:r>
              <a:rPr lang="en-US" dirty="0"/>
              <a:t>– </a:t>
            </a:r>
            <a:r>
              <a:rPr lang="bg-BG" dirty="0"/>
              <a:t>Копиране на масив. Методът </a:t>
            </a:r>
            <a:r>
              <a:rPr lang="en-US" dirty="0"/>
              <a:t>copyOf() </a:t>
            </a:r>
            <a:r>
              <a:rPr lang="bg-BG" dirty="0"/>
              <a:t>създава копие на масива с определена дължина. Ако новата дължина е по-голяма от оригиналния масив, новите елементи ще бъдат инициализирани със стойност по подразбиране.</a:t>
            </a:r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original = {1, 2, 3};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copy = Arrays.copyOf(original, 5);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System.out.println(Arrays.toString(copy)); // </a:t>
            </a:r>
            <a:r>
              <a:rPr lang="bg-BG" sz="1600" i="1" dirty="0"/>
              <a:t>Изход: [1, 2, 3, 0, 0]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Arrays.copyOfRange() </a:t>
            </a:r>
            <a:r>
              <a:rPr lang="en-US" dirty="0"/>
              <a:t>– </a:t>
            </a:r>
            <a:r>
              <a:rPr lang="bg-BG" dirty="0"/>
              <a:t>Копиране на част от масив. Методът </a:t>
            </a:r>
            <a:r>
              <a:rPr lang="en-US" dirty="0"/>
              <a:t>copyOfRange() </a:t>
            </a:r>
            <a:r>
              <a:rPr lang="bg-BG" dirty="0"/>
              <a:t>копира част от масива, започвайки от даден начален индекс до краен индекс. </a:t>
            </a:r>
          </a:p>
          <a:p>
            <a:pPr marL="0" indent="0">
              <a:buNone/>
            </a:pPr>
            <a:r>
              <a:rPr lang="bg-BG" sz="1700" i="1" dirty="0"/>
              <a:t>		</a:t>
            </a:r>
            <a:r>
              <a:rPr lang="en-US" sz="1700" i="1" dirty="0"/>
              <a:t>int[] numbers = {10, 20, 30, 40, 50};</a:t>
            </a:r>
            <a:endParaRPr lang="bg-BG" sz="1700" i="1" dirty="0"/>
          </a:p>
          <a:p>
            <a:pPr marL="0" indent="0">
              <a:buNone/>
            </a:pPr>
            <a:r>
              <a:rPr lang="bg-BG" sz="1700" i="1" dirty="0"/>
              <a:t>		</a:t>
            </a:r>
            <a:r>
              <a:rPr lang="en-US" sz="1700" i="1" dirty="0"/>
              <a:t>int[] partialCopy = Arrays.copyOfRange(numbers, 1, 4);</a:t>
            </a:r>
            <a:endParaRPr lang="bg-BG" sz="1700" i="1" dirty="0"/>
          </a:p>
          <a:p>
            <a:pPr marL="0" indent="0">
              <a:buNone/>
            </a:pPr>
            <a:r>
              <a:rPr lang="bg-BG" sz="1700" i="1" dirty="0"/>
              <a:t>		</a:t>
            </a:r>
            <a:r>
              <a:rPr lang="en-US" sz="1700" i="1" dirty="0"/>
              <a:t>System.out.println(Arrays.toString(partialCopy)); // </a:t>
            </a:r>
            <a:r>
              <a:rPr lang="bg-BG" sz="1700" i="1" dirty="0"/>
              <a:t>Изход: [20, 30, 40]</a:t>
            </a:r>
          </a:p>
        </p:txBody>
      </p:sp>
    </p:spTree>
    <p:extLst>
      <p:ext uri="{BB962C8B-B14F-4D97-AF65-F5344CB8AC3E}">
        <p14:creationId xmlns:p14="http://schemas.microsoft.com/office/powerpoint/2010/main" val="168915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3FD4-CFB9-939B-051B-FA6545A7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655" y="624110"/>
            <a:ext cx="9915957" cy="687454"/>
          </a:xfrm>
        </p:spPr>
        <p:txBody>
          <a:bodyPr>
            <a:normAutofit/>
          </a:bodyPr>
          <a:lstStyle/>
          <a:p>
            <a:r>
              <a:rPr lang="ru-RU" b="1" dirty="0"/>
              <a:t>Методи (3)</a:t>
            </a: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8A55-BDBA-6453-6037-29CE60358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965" y="1403927"/>
            <a:ext cx="10802648" cy="507076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Arrays.toString() </a:t>
            </a:r>
            <a:r>
              <a:rPr lang="en-US" dirty="0"/>
              <a:t>– </a:t>
            </a:r>
            <a:r>
              <a:rPr lang="ru-RU" dirty="0"/>
              <a:t>Преобразуване на масив в низ. Методът </a:t>
            </a:r>
            <a:r>
              <a:rPr lang="en-US" dirty="0"/>
              <a:t>toString() </a:t>
            </a:r>
            <a:r>
              <a:rPr lang="ru-RU" dirty="0"/>
              <a:t>преобразува масив в низ, което е полезно за извеждането му на конзолата.</a:t>
            </a:r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int[] numbers = {1, 2, 3, 4, 5};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System.out.println(Arrays.toString(numbers)); // </a:t>
            </a:r>
            <a:r>
              <a:rPr lang="ru-RU" sz="1600" i="1" dirty="0"/>
              <a:t>Изход: [1, 2, 3, 4, 5]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Arrays.asList() </a:t>
            </a:r>
            <a:r>
              <a:rPr lang="en-US" dirty="0"/>
              <a:t>– </a:t>
            </a:r>
            <a:r>
              <a:rPr lang="bg-BG" dirty="0"/>
              <a:t>Преобразуване на масив в списък. Методът </a:t>
            </a:r>
            <a:r>
              <a:rPr lang="en-US" dirty="0"/>
              <a:t>asList() </a:t>
            </a:r>
            <a:r>
              <a:rPr lang="bg-BG" dirty="0"/>
              <a:t>създава фиксиран списък от елементите на даден масив. Полезно е, когато искаме да използваме методите на </a:t>
            </a:r>
            <a:r>
              <a:rPr lang="en-US" dirty="0"/>
              <a:t>List </a:t>
            </a:r>
            <a:r>
              <a:rPr lang="bg-BG" dirty="0"/>
              <a:t>върху масив.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sz="1600" i="1" dirty="0"/>
              <a:t>String[] fruits = {"Apple", "Banana", "Orange"};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List&lt;String&gt; fruitList = Arrays.asList(fruits);</a:t>
            </a:r>
            <a:endParaRPr lang="bg-BG" sz="1600" i="1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System.out.println(fruitList); // </a:t>
            </a:r>
            <a:r>
              <a:rPr lang="bg-BG" sz="1600" i="1" dirty="0"/>
              <a:t>Изход: [</a:t>
            </a:r>
            <a:r>
              <a:rPr lang="en-US" sz="1600" i="1" dirty="0"/>
              <a:t>Apple, Banana, Orange]</a:t>
            </a:r>
            <a:endParaRPr lang="bg-BG" sz="1600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Arrays.setAll() </a:t>
            </a:r>
            <a:r>
              <a:rPr lang="en-US" dirty="0"/>
              <a:t>– </a:t>
            </a:r>
            <a:r>
              <a:rPr lang="ru-RU" dirty="0"/>
              <a:t>Промяна на всички елементи в масива. Методът </a:t>
            </a:r>
            <a:r>
              <a:rPr lang="en-US" dirty="0"/>
              <a:t>setAll() </a:t>
            </a:r>
            <a:r>
              <a:rPr lang="ru-RU" dirty="0"/>
              <a:t>позволява да зададете стойност за всички елементи в масива чрез ламбда израз или функция. </a:t>
            </a:r>
            <a:r>
              <a:rPr lang="en-US" dirty="0"/>
              <a:t>int[] numbers = new int[5];</a:t>
            </a:r>
            <a:endParaRPr lang="bg-BG" dirty="0"/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Arrays.setAll(numbers, i -&gt; i * 2); // </a:t>
            </a:r>
            <a:r>
              <a:rPr lang="ru-RU" sz="1600" i="1" dirty="0"/>
              <a:t>Задава на всеки елемент стойност равна на индекса му * 2</a:t>
            </a:r>
          </a:p>
          <a:p>
            <a:pPr marL="0" indent="0">
              <a:buNone/>
            </a:pPr>
            <a:r>
              <a:rPr lang="bg-BG" sz="1600" i="1" dirty="0"/>
              <a:t>		</a:t>
            </a:r>
            <a:r>
              <a:rPr lang="en-US" sz="1600" i="1" dirty="0"/>
              <a:t>System.out.println(Arrays.toString(numbers)); // </a:t>
            </a:r>
            <a:r>
              <a:rPr lang="ru-RU" sz="1600" i="1" dirty="0"/>
              <a:t>Изход: [0, 2, 4, 6, 8]</a:t>
            </a:r>
          </a:p>
          <a:p>
            <a:pPr marL="0" indent="0">
              <a:buNone/>
            </a:pPr>
            <a:endParaRPr lang="bg-BG" sz="1600" i="1" dirty="0"/>
          </a:p>
        </p:txBody>
      </p:sp>
    </p:spTree>
    <p:extLst>
      <p:ext uri="{BB962C8B-B14F-4D97-AF65-F5344CB8AC3E}">
        <p14:creationId xmlns:p14="http://schemas.microsoft.com/office/powerpoint/2010/main" val="223230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4184-3065-5DA3-409D-18C0178A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09"/>
            <a:ext cx="9879012" cy="936835"/>
          </a:xfrm>
        </p:spPr>
        <p:txBody>
          <a:bodyPr>
            <a:normAutofit fontScale="90000"/>
          </a:bodyPr>
          <a:lstStyle/>
          <a:p>
            <a:r>
              <a:rPr lang="bg-BG" sz="3300" b="1" dirty="0"/>
              <a:t>Подаване на масив като параметър на метод</a:t>
            </a:r>
            <a:br>
              <a:rPr lang="bg-BG" b="1" dirty="0"/>
            </a:br>
            <a:br>
              <a:rPr lang="ru-RU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3344-385C-B242-9DB1-3E49DBD1F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181" y="1256145"/>
            <a:ext cx="10751127" cy="53663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dirty="0"/>
              <a:t>В </a:t>
            </a:r>
            <a:r>
              <a:rPr lang="en-US" dirty="0"/>
              <a:t>Java </a:t>
            </a:r>
            <a:r>
              <a:rPr lang="bg-BG" dirty="0"/>
              <a:t>можем да подаваме масиви като параметри на методи, както всеки друг тип данни. </a:t>
            </a:r>
          </a:p>
          <a:p>
            <a:pPr marL="0" indent="0">
              <a:buNone/>
            </a:pPr>
            <a:r>
              <a:rPr lang="bg-BG" dirty="0"/>
              <a:t>Масивът се предава по референция, което означава, че всяка промяна, направена върху масива вътре в метода, ще бъде отразена и в оригиналния масив.</a:t>
            </a:r>
          </a:p>
          <a:p>
            <a:pPr marL="0" indent="0">
              <a:buNone/>
            </a:pPr>
            <a:r>
              <a:rPr lang="en-US" sz="1600" dirty="0"/>
              <a:t>public class Example {</a:t>
            </a:r>
          </a:p>
          <a:p>
            <a:pPr marL="0" indent="0">
              <a:buNone/>
            </a:pPr>
            <a:r>
              <a:rPr lang="en-US" sz="1600" dirty="0"/>
              <a:t>    public static void main(String[]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pPr marL="0" indent="0">
              <a:buNone/>
            </a:pPr>
            <a:r>
              <a:rPr lang="en-US" sz="1600" dirty="0"/>
              <a:t>        int[] numbers = {1, 2, 3, 4, 5};</a:t>
            </a:r>
          </a:p>
          <a:p>
            <a:pPr marL="0" indent="0">
              <a:buNone/>
            </a:pPr>
            <a:r>
              <a:rPr lang="en-US" sz="1600" dirty="0"/>
              <a:t>        printArray(numbers);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    public static void printArray(int[] array) {</a:t>
            </a:r>
          </a:p>
          <a:p>
            <a:pPr marL="0" indent="0">
              <a:buNone/>
            </a:pPr>
            <a:r>
              <a:rPr lang="en-US" sz="1600" dirty="0"/>
              <a:t>        for (int i : array) {</a:t>
            </a:r>
          </a:p>
          <a:p>
            <a:pPr marL="0" indent="0">
              <a:buNone/>
            </a:pPr>
            <a:r>
              <a:rPr lang="en-US" sz="1600" dirty="0"/>
              <a:t>            System.out.print(i + " ");</a:t>
            </a:r>
          </a:p>
          <a:p>
            <a:pPr marL="0" indent="0">
              <a:buNone/>
            </a:pPr>
            <a:r>
              <a:rPr lang="en-US" sz="1600" dirty="0"/>
              <a:t>        }    </a:t>
            </a:r>
            <a:endParaRPr lang="bg-BG" sz="1600" dirty="0"/>
          </a:p>
          <a:p>
            <a:pPr marL="0" indent="0">
              <a:buNone/>
            </a:pPr>
            <a:r>
              <a:rPr lang="bg-BG" sz="1600" dirty="0"/>
              <a:t>  </a:t>
            </a:r>
            <a:r>
              <a:rPr lang="en-US" sz="1600" dirty="0"/>
              <a:t>}</a:t>
            </a:r>
            <a:r>
              <a:rPr lang="bg-BG" sz="1600" dirty="0"/>
              <a:t>   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6199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FFC2-C164-C8ED-EFD7-28645D1B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1"/>
            <a:ext cx="9879012" cy="844472"/>
          </a:xfrm>
        </p:spPr>
        <p:txBody>
          <a:bodyPr/>
          <a:lstStyle/>
          <a:p>
            <a:r>
              <a:rPr lang="bg-BG" b="1" dirty="0"/>
              <a:t>Обхождане на масив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0D3C3-0C42-4E30-27DC-0F5763E8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127" y="1588655"/>
            <a:ext cx="10405485" cy="4645234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Обхождането на масив най-често се прави с цикъл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/>
              <a:t>for-each</a:t>
            </a:r>
            <a:r>
              <a:rPr lang="en-US" dirty="0"/>
              <a:t>, </a:t>
            </a:r>
            <a:r>
              <a:rPr lang="bg-BG" dirty="0"/>
              <a:t>за да се премине през всички елементи.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i="1" dirty="0"/>
              <a:t>  </a:t>
            </a:r>
            <a:r>
              <a:rPr lang="en-US" i="1" dirty="0"/>
              <a:t>int[] numbers = {10, 20, 30, 40, 50};</a:t>
            </a:r>
            <a:endParaRPr lang="bg-BG" i="1" dirty="0"/>
          </a:p>
          <a:p>
            <a:pPr marL="0" indent="0">
              <a:buNone/>
            </a:pPr>
            <a:r>
              <a:rPr lang="bg-BG" i="1" dirty="0"/>
              <a:t>	</a:t>
            </a:r>
            <a:r>
              <a:rPr lang="en-US" i="1" dirty="0"/>
              <a:t>for (int i = 0; i &lt; numbers.length; i++) {    </a:t>
            </a:r>
            <a:endParaRPr lang="bg-BG" i="1" dirty="0"/>
          </a:p>
          <a:p>
            <a:pPr marL="0" indent="0">
              <a:buNone/>
            </a:pPr>
            <a:r>
              <a:rPr lang="bg-BG" i="1" dirty="0"/>
              <a:t>	</a:t>
            </a:r>
            <a:r>
              <a:rPr lang="en-US" i="1" dirty="0"/>
              <a:t>System.out.println("Element at index " + i + ": " + numbers[i]);</a:t>
            </a:r>
            <a:endParaRPr lang="bg-BG" i="1" dirty="0"/>
          </a:p>
          <a:p>
            <a:pPr marL="0" indent="0">
              <a:buNone/>
            </a:pPr>
            <a:r>
              <a:rPr lang="bg-BG" i="1" dirty="0"/>
              <a:t>	</a:t>
            </a:r>
            <a:r>
              <a:rPr lang="en-US" i="1" dirty="0"/>
              <a:t>}</a:t>
            </a:r>
            <a:endParaRPr lang="bg-BG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i="1" dirty="0"/>
              <a:t>  </a:t>
            </a:r>
            <a:r>
              <a:rPr lang="en-US" i="1" dirty="0"/>
              <a:t>for (int num : numbers) {    </a:t>
            </a:r>
            <a:endParaRPr lang="bg-BG" i="1" dirty="0"/>
          </a:p>
          <a:p>
            <a:pPr marL="0" indent="0">
              <a:buNone/>
            </a:pPr>
            <a:r>
              <a:rPr lang="bg-BG" i="1" dirty="0"/>
              <a:t>	</a:t>
            </a:r>
            <a:r>
              <a:rPr lang="en-US" i="1" dirty="0"/>
              <a:t>System.out.println(num);</a:t>
            </a:r>
            <a:endParaRPr lang="bg-BG" i="1" dirty="0"/>
          </a:p>
          <a:p>
            <a:pPr marL="0" indent="0">
              <a:buNone/>
            </a:pPr>
            <a:r>
              <a:rPr lang="bg-BG" i="1" dirty="0"/>
              <a:t>	</a:t>
            </a:r>
            <a:r>
              <a:rPr lang="en-US" i="1" dirty="0"/>
              <a:t>}</a:t>
            </a:r>
            <a:endParaRPr lang="bg-BG" i="1" dirty="0"/>
          </a:p>
        </p:txBody>
      </p:sp>
    </p:spTree>
    <p:extLst>
      <p:ext uri="{BB962C8B-B14F-4D97-AF65-F5344CB8AC3E}">
        <p14:creationId xmlns:p14="http://schemas.microsoft.com/office/powerpoint/2010/main" val="428666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A1DE-D930-3C39-FB87-D874BCAF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624110"/>
            <a:ext cx="9879012" cy="853708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Отпечатване на масиви</a:t>
            </a:r>
            <a:br>
              <a:rPr lang="bg-BG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34E3-19E1-C4E5-3075-F630B0B24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091" y="1607127"/>
            <a:ext cx="10211521" cy="462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За да отпечатаме масив в четим вид, можем да използваме метода </a:t>
            </a:r>
            <a:r>
              <a:rPr lang="en-US" dirty="0"/>
              <a:t>Arrays.toString(). </a:t>
            </a:r>
            <a:r>
              <a:rPr lang="bg-BG" dirty="0"/>
              <a:t>Този метод преобразува масива в низ (</a:t>
            </a:r>
            <a:r>
              <a:rPr lang="en-US" dirty="0"/>
              <a:t>String), </a:t>
            </a:r>
            <a:r>
              <a:rPr lang="bg-BG" dirty="0"/>
              <a:t>който може да бъде отпечатан с помощта на </a:t>
            </a:r>
            <a:r>
              <a:rPr lang="en-US" dirty="0"/>
              <a:t>System.out.println().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int[] numbers = {1, 2, 3, 4, 5};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System.out.println(Arrays.toString(numbers));// [1, 2, 3, 4, 5]</a:t>
            </a:r>
          </a:p>
          <a:p>
            <a:pPr marL="0" indent="0">
              <a:buNone/>
            </a:pP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21142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573A-C7E7-FDA3-69A9-51CA7ACE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64" y="624110"/>
            <a:ext cx="9888247" cy="724399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Сравнение на масиви</a:t>
            </a:r>
            <a:br>
              <a:rPr lang="bg-BG" b="1" dirty="0"/>
            </a:br>
            <a:endParaRPr lang="bg-BG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5FBBCC-277D-282E-8709-32F424D2A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0727" y="1422400"/>
            <a:ext cx="10303884" cy="4987636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Методът </a:t>
            </a:r>
            <a:r>
              <a:rPr lang="en-US" dirty="0"/>
              <a:t>Arrays.equals() </a:t>
            </a:r>
            <a:r>
              <a:rPr lang="bg-BG" dirty="0"/>
              <a:t>позволява да се сравнят два масива елемент по елемент. Той връща </a:t>
            </a:r>
            <a:r>
              <a:rPr lang="en-US" dirty="0"/>
              <a:t>true, </a:t>
            </a:r>
            <a:r>
              <a:rPr lang="bg-BG" dirty="0"/>
              <a:t>ако двата масива имат еднакви дължина и съдържание.</a:t>
            </a:r>
          </a:p>
          <a:p>
            <a:pPr marL="0" indent="0">
              <a:buNone/>
            </a:pPr>
            <a:r>
              <a:rPr lang="en-US" i="1" dirty="0"/>
              <a:t>	int[] array1 = {1, 2, 3};</a:t>
            </a:r>
          </a:p>
          <a:p>
            <a:pPr marL="0" indent="0">
              <a:buNone/>
            </a:pPr>
            <a:r>
              <a:rPr lang="en-US" i="1" dirty="0"/>
              <a:t>	int[] array2 = {1, 2, 3};</a:t>
            </a:r>
          </a:p>
          <a:p>
            <a:pPr marL="0" indent="0">
              <a:buNone/>
            </a:pPr>
            <a:r>
              <a:rPr lang="en-US" i="1" dirty="0"/>
              <a:t>	int[] array3 = {4, 5, 6};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	System.out.println(Arrays.equals(array1, array2)); // true</a:t>
            </a:r>
          </a:p>
          <a:p>
            <a:pPr marL="0" indent="0">
              <a:buNone/>
            </a:pPr>
            <a:r>
              <a:rPr lang="en-US" i="1" dirty="0"/>
              <a:t>	System.out.println(Arrays.equals(array1, array3)); // false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79680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2A38-5F03-17ED-B7BB-CE797052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36" y="624110"/>
            <a:ext cx="9971376" cy="67821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Сортиране на масиви</a:t>
            </a:r>
            <a:br>
              <a:rPr lang="ru-RU" b="1" dirty="0"/>
            </a:br>
            <a:endParaRPr lang="bg-B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BF00C-DA19-8CE1-6793-DA69F5C82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8218" y="1782619"/>
            <a:ext cx="10636394" cy="4682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 сортиране на масиви в </a:t>
            </a:r>
            <a:r>
              <a:rPr lang="en-US" dirty="0"/>
              <a:t>Java </a:t>
            </a:r>
            <a:r>
              <a:rPr lang="ru-RU" dirty="0"/>
              <a:t>можем да използваме метода </a:t>
            </a:r>
            <a:r>
              <a:rPr lang="en-US" dirty="0"/>
              <a:t>Arrays.sort(). </a:t>
            </a:r>
            <a:r>
              <a:rPr lang="ru-RU" dirty="0"/>
              <a:t>Той сортира масива по възходящ ред (от най-малкия към най-големия елемент). Ако масивът съдържа обекти (напр. низове), те се сортират по азбучен ред.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int[] numbers = {5, 1, 4, 2, 3};</a:t>
            </a:r>
          </a:p>
          <a:p>
            <a:pPr marL="0" indent="0">
              <a:buNone/>
            </a:pPr>
            <a:r>
              <a:rPr lang="en-US" i="1" dirty="0"/>
              <a:t>	Arrays.sort(numbers);</a:t>
            </a:r>
          </a:p>
          <a:p>
            <a:pPr marL="0" indent="0">
              <a:buNone/>
            </a:pPr>
            <a:r>
              <a:rPr lang="en-US" i="1" dirty="0"/>
              <a:t>	System.out.println(Arrays.toString(numbers));// [1, 2, 3, 4, 5]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981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19FA-7943-D893-D96E-8E1D665E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Какво научих днес: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BF5BE-3728-7EE7-446A-CAB350FBB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Клас „Arrays“.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Вградени методи за работа с масиви.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Подаване на масив като параметър на метод.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Отпечатване, сравнение и сортиране на масиви.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Търсене в масив.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061844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10615</TotalTime>
  <Words>1869</Words>
  <Application>Microsoft Office PowerPoint</Application>
  <PresentationFormat>Widescreen</PresentationFormat>
  <Paragraphs>144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Упражнение 3:  Вградени методи за работа с масиви. Клас „Arrays“. Подаване на масив като параметър на метод. Отпечатване, сравнение и сортиране на масиви. Търсене в масив.</vt:lpstr>
      <vt:lpstr>Да си припомним какво е:</vt:lpstr>
      <vt:lpstr>Упражнението днес:</vt:lpstr>
      <vt:lpstr>Какво е масив?</vt:lpstr>
      <vt:lpstr>Създаване на масив</vt:lpstr>
      <vt:lpstr>Достъп и промяна на елемент</vt:lpstr>
      <vt:lpstr>Двумерни масиви (Матрици)</vt:lpstr>
      <vt:lpstr>Класът Arrays в Java </vt:lpstr>
      <vt:lpstr>Методи (1) </vt:lpstr>
      <vt:lpstr>Методи (2)</vt:lpstr>
      <vt:lpstr>Методи (3)</vt:lpstr>
      <vt:lpstr>Подаване на масив като параметър на метод  </vt:lpstr>
      <vt:lpstr>Обхождане на масив </vt:lpstr>
      <vt:lpstr>Отпечатване на масиви </vt:lpstr>
      <vt:lpstr>Сравнение на масиви </vt:lpstr>
      <vt:lpstr>Сортиране на масиви </vt:lpstr>
      <vt:lpstr>Какво научих днес: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Лилия Андонова</dc:creator>
  <cp:lastModifiedBy>Лилия Андонова</cp:lastModifiedBy>
  <cp:revision>33</cp:revision>
  <dcterms:created xsi:type="dcterms:W3CDTF">2024-10-04T03:41:48Z</dcterms:created>
  <dcterms:modified xsi:type="dcterms:W3CDTF">2024-11-02T14:05:17Z</dcterms:modified>
</cp:coreProperties>
</file>