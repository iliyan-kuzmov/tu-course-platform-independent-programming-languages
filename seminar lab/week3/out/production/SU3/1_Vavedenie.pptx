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3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2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459" autoAdjust="0"/>
  </p:normalViewPr>
  <p:slideViewPr>
    <p:cSldViewPr snapToGrid="0">
      <p:cViewPr varScale="1">
        <p:scale>
          <a:sx n="79" d="100"/>
          <a:sy n="79" d="100"/>
        </p:scale>
        <p:origin x="82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5346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9703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030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0547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9002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22385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9533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22149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3715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160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9678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62175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4437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88985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7412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8484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9DBD0-B3AD-4520-B0CF-DFA4E7D2178C}" type="datetimeFigureOut">
              <a:rPr lang="bg-BG" smtClean="0"/>
              <a:t>27.9.2025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1197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48A3-04CB-5848-5BBA-80FB09BE3C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Упражнение 1: Въведение</a:t>
            </a:r>
            <a:endParaRPr lang="bg-B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8906F-6DAE-46B2-E939-EB991D6AF4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bg-BG" dirty="0"/>
              <a:t>Инж. Лилия Андонова</a:t>
            </a:r>
          </a:p>
          <a:p>
            <a:pPr algn="r"/>
            <a:r>
              <a:rPr lang="bg-BG" dirty="0"/>
              <a:t>ТУ – София</a:t>
            </a:r>
          </a:p>
          <a:p>
            <a:pPr algn="r"/>
            <a:r>
              <a:rPr lang="bg-BG" dirty="0"/>
              <a:t>ФКСТ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48DC3-5E79-D6EF-E8D0-30DCF73FD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637" y="332603"/>
            <a:ext cx="28479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6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E6E3-9EE3-F7A3-F96E-3C674270B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Упражнението днес: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1D37F-1C35-FC2A-E533-A7732BE38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Виртуална машина. </a:t>
            </a:r>
          </a:p>
          <a:p>
            <a:r>
              <a:rPr lang="ru-RU" dirty="0"/>
              <a:t>Развойни среди. </a:t>
            </a:r>
          </a:p>
          <a:p>
            <a:r>
              <a:rPr lang="ru-RU" dirty="0"/>
              <a:t>Създаване на проект. </a:t>
            </a:r>
          </a:p>
          <a:p>
            <a:r>
              <a:rPr lang="ru-RU" dirty="0"/>
              <a:t>Структура на проект. </a:t>
            </a:r>
          </a:p>
          <a:p>
            <a:r>
              <a:rPr lang="ru-RU" dirty="0"/>
              <a:t>Създаване на пакет и „Main“ клас. </a:t>
            </a:r>
          </a:p>
          <a:p>
            <a:r>
              <a:rPr lang="ru-RU" dirty="0"/>
              <a:t>Вход и изход в конзолата.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323460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DAEF-5163-4709-5775-A83EB91D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 Virtual Machine 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9B113-8F00-7587-4C14-37280FC5A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655" y="1825625"/>
            <a:ext cx="5698836" cy="4351338"/>
          </a:xfrm>
        </p:spPr>
        <p:txBody>
          <a:bodyPr/>
          <a:lstStyle/>
          <a:p>
            <a:pPr marL="0" indent="0" algn="just">
              <a:buNone/>
            </a:pPr>
            <a:endParaRPr lang="ru-RU" b="1" i="1" dirty="0"/>
          </a:p>
          <a:p>
            <a:pPr marL="0" indent="0" algn="just">
              <a:buNone/>
            </a:pPr>
            <a:endParaRPr lang="ru-RU" b="1" i="1" dirty="0"/>
          </a:p>
          <a:p>
            <a:pPr marL="0" indent="0" algn="just">
              <a:buNone/>
            </a:pPr>
            <a:r>
              <a:rPr lang="ru-RU" b="1" i="1" dirty="0"/>
              <a:t>Java Virtual Machine (или JVM) </a:t>
            </a:r>
            <a:r>
              <a:rPr lang="ru-RU" dirty="0"/>
              <a:t>е абстрактна изчислителна машина, която е основният компонент, осигуряващ независимостта от хардуер и операционна система. </a:t>
            </a:r>
          </a:p>
          <a:p>
            <a:pPr marL="0" indent="0">
              <a:buNone/>
            </a:pPr>
            <a:endParaRPr lang="bg-BG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B664F97-9BC1-2590-CCAA-875926688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7744" y="1825625"/>
            <a:ext cx="4916055" cy="4351338"/>
          </a:xfrm>
        </p:spPr>
        <p:txBody>
          <a:bodyPr/>
          <a:lstStyle/>
          <a:p>
            <a:pPr marL="0" indent="0">
              <a:buNone/>
            </a:pP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C94C11-352D-DD87-7484-013B53329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54" y="2201704"/>
            <a:ext cx="5077691" cy="363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0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3FD4-CFB9-939B-051B-FA6545A7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Java виртуалната машина (JVM)</a:t>
            </a:r>
            <a:br>
              <a:rPr lang="ru-RU" b="1" dirty="0"/>
            </a:b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8A55-BDBA-6453-6037-29CE60358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Интерпретира и изпълнява byte код инструкции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Компилира по време на изпълнението байт кода до машинен код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Заделя памет за оперативните данни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Автоматично изчиства паметта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Зарежда класове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Стартира нишки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Взаимодейства с операционната система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32302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4184-3065-5DA3-409D-18C0178A6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 </a:t>
            </a:r>
            <a:r>
              <a:rPr lang="bg-BG" b="1" dirty="0"/>
              <a:t>Развойни среди (</a:t>
            </a:r>
            <a:r>
              <a:rPr lang="en-US" b="1" dirty="0"/>
              <a:t>IDE</a:t>
            </a:r>
            <a:r>
              <a:rPr lang="bg-BG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13344-385C-B242-9DB1-3E49DBD1F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Съвкупност от инструментални програми, необходими за създаване на нови програми се нарича система за програмиране. </a:t>
            </a:r>
          </a:p>
          <a:p>
            <a:pPr marL="0" indent="0">
              <a:buNone/>
            </a:pPr>
            <a:r>
              <a:rPr lang="ru-RU" dirty="0"/>
              <a:t>Елементите на системата за програмиране са текстов редактор, компилатор, свързващ редактор, интерпретатор, дебъгер, библиотека от подпрограми. </a:t>
            </a:r>
          </a:p>
          <a:p>
            <a:pPr marL="0" indent="0">
              <a:buNone/>
            </a:pPr>
            <a:r>
              <a:rPr lang="ru-RU" dirty="0"/>
              <a:t>Интегрирането на всички елементи на системата за програмиране в едно цяло се нарича интегрирана среда за програмиране </a:t>
            </a:r>
            <a:r>
              <a:rPr lang="ru-RU" b="1" i="1" dirty="0"/>
              <a:t>(Integrated Development Environment). 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61994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FFC2-C164-C8ED-EFD7-28645D1B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Основни елементи</a:t>
            </a:r>
            <a:r>
              <a:rPr lang="en-US" b="1" dirty="0"/>
              <a:t> </a:t>
            </a:r>
            <a:r>
              <a:rPr lang="bg-BG" b="1" dirty="0"/>
              <a:t>на </a:t>
            </a:r>
            <a:r>
              <a:rPr lang="en-US" b="1" dirty="0"/>
              <a:t>IDE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0D3C3-0C42-4E30-27DC-0F5763E89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b="1" dirty="0"/>
              <a:t>Текстов редактор </a:t>
            </a:r>
            <a:r>
              <a:rPr lang="bg-BG" sz="2400" dirty="0"/>
              <a:t>- </a:t>
            </a:r>
            <a:r>
              <a:rPr lang="ru-RU" sz="2400" dirty="0"/>
              <a:t>кодът се пише във файла като се използва текстов редактор;</a:t>
            </a:r>
          </a:p>
          <a:p>
            <a:pPr marL="0" indent="0">
              <a:buNone/>
            </a:pPr>
            <a:r>
              <a:rPr lang="ru-RU" sz="2400" b="1" dirty="0"/>
              <a:t>Транслатор</a:t>
            </a:r>
            <a:r>
              <a:rPr lang="ru-RU" sz="2400" dirty="0"/>
              <a:t> – превежда кода на машинен език;</a:t>
            </a:r>
          </a:p>
          <a:p>
            <a:pPr marL="0" indent="0">
              <a:buNone/>
            </a:pPr>
            <a:r>
              <a:rPr lang="ru-RU" sz="2400" b="1" dirty="0"/>
              <a:t>Дебъгер</a:t>
            </a:r>
            <a:r>
              <a:rPr lang="ru-RU" sz="2400" dirty="0"/>
              <a:t> – позволява програмата да се изпълни стъпка по стъпка, като на всяка стъпка </a:t>
            </a:r>
            <a:r>
              <a:rPr lang="bg-BG" sz="2400" dirty="0"/>
              <a:t>се </a:t>
            </a:r>
            <a:r>
              <a:rPr lang="ru-RU" sz="2400" dirty="0"/>
              <a:t>вижда какво действие се изпълнява и се отстраняват логическите грешки (бъгове). </a:t>
            </a:r>
          </a:p>
          <a:p>
            <a:pPr marL="0" indent="0">
              <a:buNone/>
            </a:pP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4286661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9A1DE-D930-3C39-FB87-D874BCAF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IDEs </a:t>
            </a:r>
            <a:r>
              <a:rPr lang="bg-BG" b="1" dirty="0"/>
              <a:t>за </a:t>
            </a:r>
            <a:r>
              <a:rPr lang="en-US" b="1" dirty="0"/>
              <a:t>JAVA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A34E3-19E1-C4E5-3075-F630B0B24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Eclipse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r>
              <a:rPr lang="ru-RU" sz="2400" b="1" dirty="0"/>
              <a:t>NetBeans</a:t>
            </a:r>
            <a:endParaRPr lang="bg-BG" sz="2400" b="1" dirty="0"/>
          </a:p>
          <a:p>
            <a:pPr marL="0" indent="0">
              <a:buNone/>
            </a:pPr>
            <a:r>
              <a:rPr lang="ru-RU" sz="2400" b="1" dirty="0"/>
              <a:t>IntelliJ IDEA</a:t>
            </a:r>
            <a:r>
              <a:rPr lang="en-US" sz="2400" b="1" dirty="0"/>
              <a:t> </a:t>
            </a:r>
            <a:r>
              <a:rPr lang="en-US" sz="2400" dirty="0"/>
              <a:t>- e</a:t>
            </a:r>
            <a:r>
              <a:rPr lang="ru-RU" sz="2400" dirty="0"/>
              <a:t>дин от</a:t>
            </a:r>
            <a:r>
              <a:rPr lang="en-US" sz="2400" dirty="0"/>
              <a:t> </a:t>
            </a:r>
            <a:r>
              <a:rPr lang="ru-RU" sz="2400" dirty="0"/>
              <a:t> най-предпочитаните инструменти от професионалните Java разработчици. 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Разработен от JetBrains</a:t>
            </a:r>
            <a:r>
              <a:rPr lang="bg-BG" sz="2400" dirty="0"/>
              <a:t>;</a:t>
            </a:r>
            <a:r>
              <a:rPr lang="ru-RU" sz="2400" dirty="0"/>
              <a:t> 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Интелигентно допълване на код;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sz="2400" dirty="0"/>
              <a:t>Вграден анализ на кода и автоматични предложения за подобрение.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42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573A-C7E7-FDA3-69A9-51CA7ACE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 </a:t>
            </a:r>
            <a:r>
              <a:rPr lang="bg-BG" b="1" dirty="0"/>
              <a:t>Създаване на проект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83534-A1B9-5DBF-857A-08CA521E45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bg-BG" dirty="0"/>
              <a:t>Стартирайте </a:t>
            </a:r>
            <a:r>
              <a:rPr lang="en-US" dirty="0"/>
              <a:t>IntelliJ IDEA</a:t>
            </a:r>
          </a:p>
          <a:p>
            <a:pPr marL="514350" indent="-514350">
              <a:buFont typeface="+mj-lt"/>
              <a:buAutoNum type="arabicPeriod"/>
            </a:pPr>
            <a:r>
              <a:rPr lang="bg-BG" dirty="0"/>
              <a:t>Изберете </a:t>
            </a:r>
            <a:r>
              <a:rPr lang="en-US" dirty="0"/>
              <a:t>New Project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bg-BG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bg-BG" dirty="0"/>
              <a:t>Проверете, че имате</a:t>
            </a:r>
            <a:r>
              <a:rPr lang="en-US" dirty="0"/>
              <a:t> </a:t>
            </a:r>
            <a:r>
              <a:rPr lang="bg-BG" dirty="0"/>
              <a:t>конфигуриран </a:t>
            </a:r>
            <a:r>
              <a:rPr lang="en-US" dirty="0"/>
              <a:t>Project SDK</a:t>
            </a:r>
          </a:p>
          <a:p>
            <a:pPr marL="514350" indent="-514350">
              <a:buFont typeface="+mj-lt"/>
              <a:buAutoNum type="arabicPeriod"/>
            </a:pPr>
            <a:r>
              <a:rPr lang="bg-BG" dirty="0"/>
              <a:t>Изберете </a:t>
            </a:r>
            <a:r>
              <a:rPr lang="en-US" dirty="0"/>
              <a:t>Next</a:t>
            </a:r>
          </a:p>
          <a:p>
            <a:endParaRPr lang="bg-B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003006C-BABD-2FEF-90FA-742E0CCB46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550665"/>
            <a:ext cx="5181600" cy="2113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2CA0CE-EBA5-D6BE-72E6-6D07A7279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484697"/>
            <a:ext cx="5181600" cy="293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80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2A38-5F03-17ED-B7BB-CE797052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Създаване на проект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BF00C-DA19-8CE1-6793-DA69F5C827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5</a:t>
            </a:r>
            <a:r>
              <a:rPr lang="bg-BG" dirty="0"/>
              <a:t>. </a:t>
            </a:r>
            <a:r>
              <a:rPr lang="ru-RU" dirty="0"/>
              <a:t>Селектирайте Create project from template</a:t>
            </a:r>
          </a:p>
          <a:p>
            <a:pPr marL="0" indent="0">
              <a:buNone/>
            </a:pPr>
            <a:r>
              <a:rPr lang="ru-RU" dirty="0"/>
              <a:t>6. Изберете Next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7. Въведете подходящо име за проекта и директория, в която да се създаде</a:t>
            </a:r>
          </a:p>
          <a:p>
            <a:pPr marL="0" indent="0">
              <a:buNone/>
            </a:pPr>
            <a:r>
              <a:rPr lang="ru-RU" dirty="0"/>
              <a:t>8. Изберте Finish</a:t>
            </a:r>
            <a:endParaRPr lang="bg-B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B4AB06-AE4F-14B6-7F6C-A2D052F1A5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58537" y="1635588"/>
            <a:ext cx="4009463" cy="26453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E04510-1740-E208-906E-E6D2CE71A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537" y="4001294"/>
            <a:ext cx="4198950" cy="275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981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466B-97D2-F53B-8AFE-7B016008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 </a:t>
            </a:r>
            <a:r>
              <a:rPr lang="bg-BG" b="1" dirty="0"/>
              <a:t>Структура на проект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6B5BB-E86B-C96F-E5A9-344EBBEFBD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Програмният код се съхранява в папка src на проекта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Сорс кодът на програма се пише в секцията main(String[] args)</a:t>
            </a:r>
          </a:p>
          <a:p>
            <a:pPr marL="0" indent="0">
              <a:buNone/>
            </a:pPr>
            <a:r>
              <a:rPr lang="ru-RU" dirty="0"/>
              <a:t>Между отварящата и затварящата скоба { }</a:t>
            </a:r>
          </a:p>
          <a:p>
            <a:pPr marL="0" indent="0">
              <a:buNone/>
            </a:pPr>
            <a:r>
              <a:rPr lang="ru-RU" dirty="0"/>
              <a:t>Кодът на програмата се пише отместен навътре</a:t>
            </a:r>
          </a:p>
          <a:p>
            <a:endParaRPr lang="bg-B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EE8BE6-DB0F-58C0-0620-575E60E172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37595" y="1690688"/>
            <a:ext cx="4072481" cy="18045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46892C-C987-D87E-7F88-489B01CE0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595" y="4001294"/>
            <a:ext cx="4645555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09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31AD-48FE-40D5-6C9A-DE746A6C8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Пакети (</a:t>
            </a:r>
            <a:r>
              <a:rPr lang="en-US" b="1" dirty="0"/>
              <a:t>Packages)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9CF59-69EC-0CFC-F2F6-E97537F83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Пакетите са логически групи от класове. </a:t>
            </a:r>
          </a:p>
          <a:p>
            <a:pPr marL="0" indent="0">
              <a:buNone/>
            </a:pPr>
            <a:r>
              <a:rPr lang="bg-BG" dirty="0"/>
              <a:t>В </a:t>
            </a:r>
            <a:r>
              <a:rPr lang="en-US" dirty="0" err="1"/>
              <a:t>src</a:t>
            </a:r>
            <a:r>
              <a:rPr lang="en-US" dirty="0"/>
              <a:t>/main/java </a:t>
            </a:r>
            <a:r>
              <a:rPr lang="bg-BG" dirty="0"/>
              <a:t>се създават папки, които представят йерархията на пакетите. </a:t>
            </a:r>
          </a:p>
          <a:p>
            <a:pPr marL="0" indent="0">
              <a:buNone/>
            </a:pPr>
            <a:r>
              <a:rPr lang="ru-RU" dirty="0"/>
              <a:t>Един IntelliJ IDEA проект съдържа един или повече Java сорс файла, конфигурационни файлове и други ресурси. </a:t>
            </a:r>
          </a:p>
          <a:p>
            <a:pPr marL="0" indent="0">
              <a:buNone/>
            </a:pPr>
            <a:r>
              <a:rPr lang="ru-RU" dirty="0"/>
              <a:t>Във всеки Java сорс файл има една или повече дефиниции на типове (класове или други дефиниции). </a:t>
            </a:r>
          </a:p>
          <a:p>
            <a:pPr marL="0" indent="0">
              <a:buNone/>
            </a:pPr>
            <a:r>
              <a:rPr lang="ru-RU" dirty="0"/>
              <a:t>В класовете има методи (действия), а те се състоят от поредици от команди.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56608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104C-78EE-DEA3-CFAD-3CEA84E7D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Създаване на пакет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718E4-3E51-F583-0D55-2B6043597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40522" y="2112483"/>
            <a:ext cx="4313864" cy="3777622"/>
          </a:xfrm>
        </p:spPr>
        <p:txBody>
          <a:bodyPr/>
          <a:lstStyle/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/>
              <a:t>В папка </a:t>
            </a:r>
            <a:r>
              <a:rPr lang="en-US" dirty="0" err="1"/>
              <a:t>src</a:t>
            </a:r>
            <a:r>
              <a:rPr lang="bg-BG" dirty="0"/>
              <a:t> с десен бутон избираме </a:t>
            </a:r>
            <a:r>
              <a:rPr lang="en-US" dirty="0"/>
              <a:t>Package </a:t>
            </a:r>
            <a:r>
              <a:rPr lang="bg-BG" dirty="0"/>
              <a:t>и създаваме папка.</a:t>
            </a: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A50658-CD2A-9E9E-0B67-1A047799E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07364" cy="4351338"/>
          </a:xfrm>
        </p:spPr>
        <p:txBody>
          <a:bodyPr/>
          <a:lstStyle/>
          <a:p>
            <a:endParaRPr lang="bg-B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38C2EA-6427-6E95-A92D-407F43B0E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013" y="2732376"/>
            <a:ext cx="5571737" cy="253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55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FC9DD-13FD-6624-D79B-BC3D2D9F7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98290"/>
          </a:xfrm>
        </p:spPr>
        <p:txBody>
          <a:bodyPr/>
          <a:lstStyle/>
          <a:p>
            <a:r>
              <a:rPr lang="bg-BG" b="1" dirty="0"/>
              <a:t>Клавишни комбинации в </a:t>
            </a:r>
            <a:r>
              <a:rPr lang="en-US" b="1" dirty="0"/>
              <a:t>IntelliJ IDEA 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191C5-A3C8-49FC-06C9-F304D141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542473"/>
            <a:ext cx="9980612" cy="4368749"/>
          </a:xfrm>
        </p:spPr>
        <p:txBody>
          <a:bodyPr>
            <a:normAutofit fontScale="92500"/>
          </a:bodyPr>
          <a:lstStyle/>
          <a:p>
            <a:r>
              <a:rPr lang="bg-BG" dirty="0"/>
              <a:t>[</a:t>
            </a:r>
            <a:r>
              <a:rPr lang="en-US" dirty="0"/>
              <a:t>CTRL + F]	</a:t>
            </a:r>
            <a:r>
              <a:rPr lang="bg-BG" dirty="0"/>
              <a:t>Комбинацията отваря търсачка, с която можем да търсим в нашия код.</a:t>
            </a:r>
          </a:p>
          <a:p>
            <a:r>
              <a:rPr lang="bg-BG" dirty="0"/>
              <a:t>[</a:t>
            </a:r>
            <a:r>
              <a:rPr lang="en-US" dirty="0"/>
              <a:t>CTRL + /]	</a:t>
            </a:r>
            <a:r>
              <a:rPr lang="bg-BG" dirty="0"/>
              <a:t>Закоментира част от кода. / Разкоментира код, който е вече закоментиран.</a:t>
            </a:r>
          </a:p>
          <a:p>
            <a:r>
              <a:rPr lang="bg-BG" dirty="0"/>
              <a:t>[</a:t>
            </a:r>
            <a:r>
              <a:rPr lang="en-US" dirty="0"/>
              <a:t>CTRL + Z]	</a:t>
            </a:r>
            <a:r>
              <a:rPr lang="bg-BG" dirty="0"/>
              <a:t>Връща една промяна назад (т.нар. </a:t>
            </a:r>
            <a:r>
              <a:rPr lang="en-US" dirty="0"/>
              <a:t>Undo).</a:t>
            </a:r>
          </a:p>
          <a:p>
            <a:r>
              <a:rPr lang="en-US" dirty="0"/>
              <a:t>[Ctrl + Shift + Z]	</a:t>
            </a:r>
            <a:r>
              <a:rPr lang="bg-BG" dirty="0"/>
              <a:t>Комбинацията има противоположно действие на [</a:t>
            </a:r>
            <a:r>
              <a:rPr lang="en-US" dirty="0"/>
              <a:t>CTRL + Z] (</a:t>
            </a:r>
            <a:r>
              <a:rPr lang="bg-BG" dirty="0"/>
              <a:t>т.нар. </a:t>
            </a:r>
            <a:r>
              <a:rPr lang="en-US" dirty="0"/>
              <a:t>Redo).</a:t>
            </a:r>
          </a:p>
          <a:p>
            <a:r>
              <a:rPr lang="en-US" dirty="0"/>
              <a:t>[CTRL + ALT + L]	</a:t>
            </a:r>
            <a:r>
              <a:rPr lang="bg-BG" dirty="0"/>
              <a:t>Форматира кода според конвенциите по подразбиране.</a:t>
            </a:r>
          </a:p>
          <a:p>
            <a:r>
              <a:rPr lang="bg-BG" dirty="0"/>
              <a:t>[</a:t>
            </a:r>
            <a:r>
              <a:rPr lang="en-US" dirty="0"/>
              <a:t>CTRL + Backspace]	</a:t>
            </a:r>
            <a:r>
              <a:rPr lang="bg-BG" dirty="0"/>
              <a:t>Изтрива думата вляво от курсора.</a:t>
            </a:r>
          </a:p>
          <a:p>
            <a:r>
              <a:rPr lang="bg-BG" dirty="0"/>
              <a:t>[</a:t>
            </a:r>
            <a:r>
              <a:rPr lang="en-US" dirty="0"/>
              <a:t>CTRL + Del]	</a:t>
            </a:r>
            <a:r>
              <a:rPr lang="bg-BG" dirty="0"/>
              <a:t>Изтрива думата вдясно от курсора.</a:t>
            </a:r>
          </a:p>
          <a:p>
            <a:r>
              <a:rPr lang="bg-BG" dirty="0"/>
              <a:t>[</a:t>
            </a:r>
            <a:r>
              <a:rPr lang="en-US" dirty="0"/>
              <a:t>CTRL + S]	</a:t>
            </a:r>
            <a:r>
              <a:rPr lang="bg-BG" dirty="0"/>
              <a:t>Запазва всички файлове в проекта.</a:t>
            </a:r>
          </a:p>
          <a:p>
            <a:r>
              <a:rPr lang="bg-BG" dirty="0"/>
              <a:t>[</a:t>
            </a:r>
            <a:r>
              <a:rPr lang="en-US" dirty="0"/>
              <a:t>CTRL + D]	</a:t>
            </a:r>
            <a:r>
              <a:rPr lang="bg-BG" dirty="0"/>
              <a:t>Копира ред или маркирания фрагмент.</a:t>
            </a:r>
          </a:p>
          <a:p>
            <a:r>
              <a:rPr lang="bg-BG" dirty="0"/>
              <a:t>[</a:t>
            </a:r>
            <a:r>
              <a:rPr lang="en-US" dirty="0"/>
              <a:t>CTRL + Y]	</a:t>
            </a:r>
            <a:r>
              <a:rPr lang="bg-BG" dirty="0"/>
              <a:t>Изтрива текущия ред.</a:t>
            </a:r>
          </a:p>
        </p:txBody>
      </p:sp>
    </p:spTree>
    <p:extLst>
      <p:ext uri="{BB962C8B-B14F-4D97-AF65-F5344CB8AC3E}">
        <p14:creationId xmlns:p14="http://schemas.microsoft.com/office/powerpoint/2010/main" val="1135435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539A-C9E2-08A8-69F8-82AA15066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Именуване на проекти, пакети и класове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2187A-3644-770C-7260-CF129B4FE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За именуване на </a:t>
            </a:r>
            <a:r>
              <a:rPr lang="ru-RU" sz="2400" b="1" dirty="0"/>
              <a:t>проекти и класове </a:t>
            </a:r>
            <a:r>
              <a:rPr lang="ru-RU" sz="2400" dirty="0"/>
              <a:t>се препоръчва описателно име, което подсказва каква е ролята на въпросния клас/ проект и в същото време се препоръчва </a:t>
            </a:r>
            <a:r>
              <a:rPr lang="ru-RU" sz="2400" b="1" dirty="0"/>
              <a:t>PascalCase</a:t>
            </a:r>
            <a:r>
              <a:rPr lang="ru-RU" sz="2400" dirty="0"/>
              <a:t> конвенцията. Tова е конвенция за именуване на елементи, при която всяка дума, включително първата, започва с главна буква, например ExpressionCalculator.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094977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DC64-F2F5-066F-B8C3-65BFDA839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„Main“ </a:t>
            </a:r>
            <a:r>
              <a:rPr lang="bg-BG" b="1" dirty="0"/>
              <a:t>клас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32847-A8C9-52E5-4756-443080076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Сорс кодът на Java програмите се пише в секцията </a:t>
            </a:r>
            <a:r>
              <a:rPr lang="ru-RU" b="1" dirty="0"/>
              <a:t>main(String[] args)</a:t>
            </a:r>
            <a:r>
              <a:rPr lang="ru-RU" dirty="0"/>
              <a:t>, между отварящата и затварящата скоба { }. </a:t>
            </a:r>
          </a:p>
          <a:p>
            <a:pPr marL="0" indent="0">
              <a:buNone/>
            </a:pPr>
            <a:r>
              <a:rPr lang="ru-RU" dirty="0"/>
              <a:t>Това е главният метод (действие), което се изпълнява при стартиране на една Java програма. </a:t>
            </a:r>
          </a:p>
          <a:p>
            <a:pPr marL="0" indent="0">
              <a:buNone/>
            </a:pPr>
            <a:r>
              <a:rPr lang="ru-RU" dirty="0"/>
              <a:t>Натискаме [Enter] след отварящата скоба { и започваме да пишем.</a:t>
            </a:r>
          </a:p>
          <a:p>
            <a:pPr marL="0" indent="0">
              <a:buNone/>
            </a:pPr>
            <a:r>
              <a:rPr lang="ru-RU" dirty="0"/>
              <a:t>Кодът на програмата се пише отместен навътре, като това е част от оформянето на текста, за по-голямо удобство при повторен преглед и/или дебъгване.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03421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A168-6696-9313-E676-41A6B5166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9" y="624110"/>
            <a:ext cx="9925194" cy="128089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  <a:r>
              <a:rPr lang="bg-BG" b="1" dirty="0"/>
              <a:t>.......</a:t>
            </a:r>
            <a:r>
              <a:rPr lang="en-US" b="1" dirty="0"/>
              <a:t>}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E0C3-574D-9CFD-A9A6-748517630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public:</a:t>
            </a:r>
            <a:r>
              <a:rPr lang="ru-RU" dirty="0"/>
              <a:t> методът е достъпен от всяко място, дори извън класа, в който се намира.</a:t>
            </a:r>
          </a:p>
          <a:p>
            <a:pPr marL="0" indent="0">
              <a:buNone/>
            </a:pPr>
            <a:r>
              <a:rPr lang="ru-RU" b="1" dirty="0"/>
              <a:t>static:</a:t>
            </a:r>
            <a:r>
              <a:rPr lang="ru-RU" dirty="0"/>
              <a:t> методът може да бъде извикан без да се създава инстанция на класа. Понеже JVM трябва да стартира приложението без да създава инстанция на класа, методът трябва да бъде статичен.</a:t>
            </a:r>
          </a:p>
          <a:p>
            <a:pPr marL="0" indent="0">
              <a:buNone/>
            </a:pPr>
            <a:r>
              <a:rPr lang="ru-RU" b="1" dirty="0"/>
              <a:t>void:</a:t>
            </a:r>
            <a:r>
              <a:rPr lang="ru-RU" dirty="0"/>
              <a:t> Методът не връща никаква стойност.</a:t>
            </a:r>
          </a:p>
          <a:p>
            <a:pPr marL="0" indent="0">
              <a:buNone/>
            </a:pPr>
            <a:r>
              <a:rPr lang="ru-RU" b="1" dirty="0"/>
              <a:t>main:</a:t>
            </a:r>
            <a:r>
              <a:rPr lang="ru-RU" dirty="0"/>
              <a:t> Това е името на метода, който JVM търси, за да стартира Java програмата.</a:t>
            </a:r>
          </a:p>
          <a:p>
            <a:pPr marL="0" indent="0">
              <a:buNone/>
            </a:pPr>
            <a:r>
              <a:rPr lang="ru-RU" b="1" dirty="0"/>
              <a:t>String[] args: </a:t>
            </a:r>
            <a:r>
              <a:rPr lang="ru-RU" dirty="0"/>
              <a:t>Това е параметърът, който представлява масив от аргументи, подадени на програмата от командния ред.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68692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B2C6-CAE8-B7FC-8B55-35D7C8EA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Системна конзола</a:t>
            </a:r>
            <a:br>
              <a:rPr lang="ru-RU" b="1" dirty="0"/>
            </a:b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7B0BE-3C40-3CF9-1586-5E417435E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обикновено наричана само «конзола»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устройството, чрез което подаваме команди на компютъра в текстов вид и получаваме резултатите от тяхното изпълнение отново като текст.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в повечето случаи представлява текстов терминал, т.е. приема и визуализира само текст, без графични елементи като например бутони, менюта и т.н.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изглежда като прозорец с черен цвят, в който пишем и който отпечатва текстов резултат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в конзолата се изпълняват конзолни приложения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чете текстов вход и печата изхода като текст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9271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CDD24-2376-1ABC-CB0D-0B56F9635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Променливи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659D2-DD3D-272B-3C30-71A49EAA6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Компютрите са машини, които обработват данни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Данните се записват в компютърната памет в променливи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Променливите имат три основни характеристики: тип, име и стойност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Променливите трябва да се дефинират преди употреба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Променливите могат да се дефинират навсякъде в блока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Инициализацията на променливите е задължителна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Дефиниране на променлива и присвояване на стойност: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&lt;</a:t>
            </a:r>
            <a:r>
              <a:rPr lang="bg-BG" dirty="0"/>
              <a:t>тип</a:t>
            </a:r>
            <a:r>
              <a:rPr lang="en-US" dirty="0"/>
              <a:t>&gt;</a:t>
            </a:r>
            <a:r>
              <a:rPr lang="bg-BG" dirty="0"/>
              <a:t> </a:t>
            </a:r>
            <a:r>
              <a:rPr lang="en-US" dirty="0"/>
              <a:t>&lt;</a:t>
            </a:r>
            <a:r>
              <a:rPr lang="bg-BG" dirty="0"/>
              <a:t>име</a:t>
            </a:r>
            <a:r>
              <a:rPr lang="en-US" dirty="0"/>
              <a:t>&gt;</a:t>
            </a:r>
            <a:r>
              <a:rPr lang="bg-BG" dirty="0"/>
              <a:t> </a:t>
            </a:r>
            <a:r>
              <a:rPr lang="en-US" dirty="0"/>
              <a:t>=</a:t>
            </a:r>
            <a:r>
              <a:rPr lang="bg-BG" dirty="0"/>
              <a:t> </a:t>
            </a:r>
            <a:r>
              <a:rPr lang="en-US" dirty="0"/>
              <a:t>&lt;</a:t>
            </a:r>
            <a:r>
              <a:rPr lang="bg-BG" dirty="0"/>
              <a:t>стойност</a:t>
            </a:r>
            <a:r>
              <a:rPr lang="en-US" dirty="0"/>
              <a:t>&gt;</a:t>
            </a:r>
            <a:r>
              <a:rPr lang="bg-BG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22574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1824C-DB02-D74B-89D5-5BE37F8DB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Типове данни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F7281-EC5C-6F27-47BA-7E20CCE4D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571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Типът задава информация за допустимите стойности на една променлива.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Типовете се ползват от компилатора за проверка за типова съвместимост в програмата.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Дефинират и размера на паметта, използван за съхранение на данните.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Java има вградени базови типове: </a:t>
            </a:r>
          </a:p>
          <a:p>
            <a:pPr marL="0" indent="0">
              <a:buNone/>
            </a:pPr>
            <a:r>
              <a:rPr lang="ru-RU" dirty="0"/>
              <a:t>	- boolean - true или false </a:t>
            </a:r>
          </a:p>
          <a:p>
            <a:pPr marL="0" indent="0">
              <a:buNone/>
            </a:pPr>
            <a:r>
              <a:rPr lang="ru-RU" dirty="0"/>
              <a:t>	- byte,short,int,long - 1,2,4,8 byte цели числа </a:t>
            </a:r>
          </a:p>
          <a:p>
            <a:pPr marL="0" indent="0">
              <a:buNone/>
            </a:pPr>
            <a:r>
              <a:rPr lang="ru-RU" dirty="0"/>
              <a:t>	- float,double - 4 и 8 byte числа с ПЗ </a:t>
            </a:r>
          </a:p>
          <a:p>
            <a:pPr marL="0" indent="0">
              <a:buNone/>
            </a:pPr>
            <a:r>
              <a:rPr lang="ru-RU" dirty="0"/>
              <a:t>	- char – символен тип </a:t>
            </a:r>
          </a:p>
          <a:p>
            <a:pPr marL="0" indent="0">
              <a:buNone/>
            </a:pPr>
            <a:r>
              <a:rPr lang="ru-RU" dirty="0"/>
              <a:t>	- void - ползва се при функции, които не връщат стойност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Java поддържа и масиви.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Java поддържа и класове.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65453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FA0B-EB8F-4786-A8DD-F02831665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Четене от конзолата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B9C5F-41E9-473A-3D1E-58968AE27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Всичко, което получаваме от конзолата, идва под формата на текст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Всичко, което печатаме на конзолата, се преобразува в текст</a:t>
            </a:r>
          </a:p>
          <a:p>
            <a:pPr marL="0" indent="0">
              <a:buNone/>
            </a:pPr>
            <a:r>
              <a:rPr lang="ru-RU" dirty="0"/>
              <a:t>В Java има няколко начина да прочетем някакъв вход от конзолата. Единият е чрез използването на вградения клас Scanner.</a:t>
            </a:r>
          </a:p>
          <a:p>
            <a:pPr marL="0" indent="0">
              <a:buNone/>
            </a:pPr>
            <a:r>
              <a:rPr lang="ru-RU" dirty="0"/>
              <a:t>За да прочетем данни от конзолата е необходимо първо да импортираме класа Scanner на първия ред от нашата програма, още преди декларацията на основния клас. Слагаме този ред най-отгоре:</a:t>
            </a:r>
          </a:p>
          <a:p>
            <a:pPr marL="0" indent="0">
              <a:buNone/>
            </a:pPr>
            <a:r>
              <a:rPr lang="ru-RU" b="1" dirty="0"/>
              <a:t>import java.util.Scanner;</a:t>
            </a:r>
          </a:p>
          <a:p>
            <a:pPr marL="0" indent="0">
              <a:buNone/>
            </a:pPr>
            <a:r>
              <a:rPr lang="ru-RU" dirty="0"/>
              <a:t>След това в main(…) метода на програмата трябва да създадем нова </a:t>
            </a:r>
            <a:r>
              <a:rPr lang="ru-RU" b="1" dirty="0"/>
              <a:t>Scanner инстанция</a:t>
            </a:r>
            <a:r>
              <a:rPr lang="ru-RU" dirty="0"/>
              <a:t>, която да закачим за системния вход. </a:t>
            </a:r>
          </a:p>
          <a:p>
            <a:pPr marL="0" indent="0">
              <a:buNone/>
            </a:pPr>
            <a:r>
              <a:rPr lang="ru-RU" b="1" dirty="0"/>
              <a:t>Scanner scanner = new Scanner(System.in);</a:t>
            </a:r>
          </a:p>
          <a:p>
            <a:pPr marL="0" indent="0">
              <a:buNone/>
            </a:pPr>
            <a:r>
              <a:rPr lang="ru-RU" dirty="0"/>
              <a:t>След това през създадения сканиращ четец scanner можем да четем цели и дробни числа, текст и други данни. 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06600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CFAA8-E011-F425-1AC3-318E2A00C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Команда за четене от конзолата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F5FB0-370E-7EA0-1FC3-75BF10C7B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ru-RU" sz="2400" b="1" dirty="0"/>
              <a:t>Връща ни текста, въведен от потребителя</a:t>
            </a:r>
          </a:p>
          <a:p>
            <a:pPr marL="0" indent="0">
              <a:buNone/>
            </a:pPr>
            <a:r>
              <a:rPr lang="en-US" sz="2400" dirty="0"/>
              <a:t>Scanner </a:t>
            </a:r>
            <a:r>
              <a:rPr lang="en-US" sz="2400" dirty="0" err="1"/>
              <a:t>scanner</a:t>
            </a:r>
            <a:r>
              <a:rPr lang="en-US" sz="2400" dirty="0"/>
              <a:t> = new Scanner(System.in);</a:t>
            </a:r>
          </a:p>
          <a:p>
            <a:pPr marL="0" indent="0">
              <a:buNone/>
            </a:pPr>
            <a:r>
              <a:rPr lang="en-US" sz="2400" dirty="0"/>
              <a:t>String name = </a:t>
            </a:r>
            <a:r>
              <a:rPr lang="en-US" sz="2400" dirty="0" err="1"/>
              <a:t>scanner.nextLine</a:t>
            </a:r>
            <a:r>
              <a:rPr lang="en-US" sz="2400" dirty="0"/>
              <a:t>();</a:t>
            </a:r>
            <a:endParaRPr lang="bg-BG" sz="2400" dirty="0"/>
          </a:p>
          <a:p>
            <a:pPr marL="0" indent="0">
              <a:buNone/>
            </a:pPr>
            <a:r>
              <a:rPr lang="en-US" sz="2400" dirty="0" err="1"/>
              <a:t>System.out.println</a:t>
            </a:r>
            <a:r>
              <a:rPr lang="en-US" sz="2400" dirty="0"/>
              <a:t>(name);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28283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3522-9FA1-508D-5145-3A65C29D3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Четене на цели числа от конзолата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7F60D-C892-F59B-2FFD-B6048A614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00" y="1436913"/>
            <a:ext cx="9879012" cy="5007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Scanner </a:t>
            </a:r>
            <a:r>
              <a:rPr lang="en-US" b="1" dirty="0" err="1"/>
              <a:t>scanner</a:t>
            </a:r>
            <a:r>
              <a:rPr lang="en-US" b="1" dirty="0"/>
              <a:t> = new Scanner(System.in);</a:t>
            </a:r>
          </a:p>
          <a:p>
            <a:pPr marL="0" indent="0">
              <a:buNone/>
            </a:pPr>
            <a:r>
              <a:rPr lang="en-US" b="1" dirty="0"/>
              <a:t>String input = </a:t>
            </a:r>
            <a:r>
              <a:rPr lang="en-US" b="1" dirty="0" err="1"/>
              <a:t>scanner.nextLine</a:t>
            </a:r>
            <a:r>
              <a:rPr lang="en-US" b="1" dirty="0"/>
              <a:t>();</a:t>
            </a:r>
          </a:p>
          <a:p>
            <a:pPr marL="0" indent="0">
              <a:buNone/>
            </a:pPr>
            <a:r>
              <a:rPr lang="en-US" b="1" dirty="0"/>
              <a:t>int num = </a:t>
            </a:r>
            <a:r>
              <a:rPr lang="en-US" b="1" dirty="0" err="1"/>
              <a:t>Integer.parseInt</a:t>
            </a:r>
            <a:r>
              <a:rPr lang="en-US" b="1" dirty="0"/>
              <a:t>(input);</a:t>
            </a:r>
          </a:p>
          <a:p>
            <a:pPr marL="0" indent="0">
              <a:buNone/>
            </a:pPr>
            <a:endParaRPr lang="bg-BG" b="1" dirty="0"/>
          </a:p>
          <a:p>
            <a:pPr marL="0" indent="0">
              <a:buNone/>
            </a:pPr>
            <a:r>
              <a:rPr lang="en-US" b="1" dirty="0"/>
              <a:t>Scanner </a:t>
            </a:r>
            <a:r>
              <a:rPr lang="en-US" b="1" dirty="0" err="1"/>
              <a:t>scanner</a:t>
            </a:r>
            <a:r>
              <a:rPr lang="en-US" b="1" dirty="0"/>
              <a:t> = new Scanner(System.in);</a:t>
            </a:r>
          </a:p>
          <a:p>
            <a:pPr marL="0" indent="0">
              <a:buNone/>
            </a:pPr>
            <a:r>
              <a:rPr lang="en-US" b="1" dirty="0"/>
              <a:t>int a = </a:t>
            </a:r>
            <a:r>
              <a:rPr lang="en-US" b="1" dirty="0" err="1"/>
              <a:t>Integer.parseInt</a:t>
            </a:r>
            <a:r>
              <a:rPr lang="en-US" b="1" dirty="0"/>
              <a:t>(</a:t>
            </a:r>
            <a:r>
              <a:rPr lang="en-US" b="1" dirty="0" err="1"/>
              <a:t>scanner.nextLine</a:t>
            </a:r>
            <a:r>
              <a:rPr lang="en-US" b="1" dirty="0"/>
              <a:t>());</a:t>
            </a:r>
          </a:p>
          <a:p>
            <a:pPr marL="0" indent="0">
              <a:buNone/>
            </a:pPr>
            <a:r>
              <a:rPr lang="ru-RU" i="1" dirty="0"/>
              <a:t>/Подходящо е, когато четем ред по ред (например ако потребителят въвежда стойности на отделни редове)/</a:t>
            </a:r>
            <a:endParaRPr lang="bg-BG" i="1" dirty="0"/>
          </a:p>
          <a:p>
            <a:pPr marL="0" indent="0">
              <a:buNone/>
            </a:pPr>
            <a:endParaRPr lang="bg-BG" b="1" dirty="0"/>
          </a:p>
          <a:p>
            <a:pPr marL="0" indent="0">
              <a:buNone/>
            </a:pPr>
            <a:r>
              <a:rPr lang="en-US" b="1" dirty="0"/>
              <a:t>Scanner </a:t>
            </a:r>
            <a:r>
              <a:rPr lang="en-US" b="1" dirty="0" err="1"/>
              <a:t>scanner</a:t>
            </a:r>
            <a:r>
              <a:rPr lang="en-US" b="1" dirty="0"/>
              <a:t> = new Scanner(System.in);</a:t>
            </a:r>
          </a:p>
          <a:p>
            <a:pPr marL="0" indent="0">
              <a:buNone/>
            </a:pPr>
            <a:r>
              <a:rPr lang="en-US" b="1" dirty="0"/>
              <a:t>int num = </a:t>
            </a:r>
            <a:r>
              <a:rPr lang="en-US" b="1" dirty="0" err="1"/>
              <a:t>scanner.nextInt</a:t>
            </a:r>
            <a:r>
              <a:rPr lang="en-US" b="1" dirty="0"/>
              <a:t>();</a:t>
            </a:r>
            <a:r>
              <a:rPr lang="bg-BG" b="1" dirty="0"/>
              <a:t> </a:t>
            </a:r>
          </a:p>
          <a:p>
            <a:pPr marL="0" indent="0">
              <a:buNone/>
            </a:pPr>
            <a:r>
              <a:rPr lang="bg-BG" i="1" dirty="0"/>
              <a:t>/</a:t>
            </a:r>
            <a:r>
              <a:rPr lang="ru-RU" i="1" dirty="0"/>
              <a:t>Подходящо е, когато въвеждаме числа, разделени с интервали или нови редове/</a:t>
            </a:r>
            <a:endParaRPr lang="en-US" i="1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21981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47A5-22FB-50FA-4DF6-D96A9D33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Четене на дробни (реални) числа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B4EFD-039D-5E4F-5865-03E828D77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Scanner </a:t>
            </a:r>
            <a:r>
              <a:rPr lang="en-US" dirty="0" err="1"/>
              <a:t>scanner</a:t>
            </a:r>
            <a:r>
              <a:rPr lang="en-US" dirty="0"/>
              <a:t> = new Scanner(System.in); </a:t>
            </a:r>
          </a:p>
          <a:p>
            <a:pPr marL="0" indent="0">
              <a:buNone/>
            </a:pPr>
            <a:r>
              <a:rPr lang="en-US" dirty="0"/>
              <a:t>String input = </a:t>
            </a:r>
            <a:r>
              <a:rPr lang="en-US" dirty="0" err="1"/>
              <a:t>scanner.nextLine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double num = </a:t>
            </a:r>
            <a:r>
              <a:rPr lang="en-US" dirty="0" err="1"/>
              <a:t>Double.parseDouble</a:t>
            </a:r>
            <a:r>
              <a:rPr lang="en-US" dirty="0"/>
              <a:t>(input);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Scanner </a:t>
            </a:r>
            <a:r>
              <a:rPr lang="en-US" dirty="0" err="1"/>
              <a:t>scanner</a:t>
            </a:r>
            <a:r>
              <a:rPr lang="en-US" dirty="0"/>
              <a:t> = new Scanner(System.in); </a:t>
            </a:r>
          </a:p>
          <a:p>
            <a:pPr marL="0" indent="0">
              <a:buNone/>
            </a:pPr>
            <a:r>
              <a:rPr lang="en-US" dirty="0"/>
              <a:t>double num = </a:t>
            </a:r>
            <a:r>
              <a:rPr lang="en-US" dirty="0" err="1"/>
              <a:t>Double.parseDouble</a:t>
            </a:r>
            <a:r>
              <a:rPr lang="en-US" dirty="0"/>
              <a:t>(</a:t>
            </a:r>
            <a:r>
              <a:rPr lang="en-US" dirty="0" err="1"/>
              <a:t>scanner.nextLine</a:t>
            </a:r>
            <a:r>
              <a:rPr lang="en-US" dirty="0"/>
              <a:t>());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Scanner </a:t>
            </a:r>
            <a:r>
              <a:rPr lang="en-US" dirty="0" err="1"/>
              <a:t>scanner</a:t>
            </a:r>
            <a:r>
              <a:rPr lang="en-US" dirty="0"/>
              <a:t> = new Scanner(System.in);</a:t>
            </a:r>
          </a:p>
          <a:p>
            <a:pPr marL="0" indent="0">
              <a:buNone/>
            </a:pPr>
            <a:r>
              <a:rPr lang="en-US" dirty="0"/>
              <a:t>double num = </a:t>
            </a:r>
            <a:r>
              <a:rPr lang="en-US" dirty="0" err="1"/>
              <a:t>scanner.nextDouble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58669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8ABC-ABAC-387A-A7B5-9CB34EC4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Отпечатване на конзолата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D0BE8-4B04-F06C-758C-B883C0484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Отпечатване на текст:</a:t>
            </a:r>
          </a:p>
          <a:p>
            <a:pPr marL="0" indent="0">
              <a:buNone/>
            </a:pPr>
            <a:r>
              <a:rPr lang="en-US" dirty="0" err="1"/>
              <a:t>System.out.print</a:t>
            </a:r>
            <a:r>
              <a:rPr lang="en-US" dirty="0"/>
              <a:t>(„</a:t>
            </a:r>
            <a:r>
              <a:rPr lang="bg-BG" dirty="0"/>
              <a:t>а= </a:t>
            </a:r>
            <a:r>
              <a:rPr lang="en-US" dirty="0"/>
              <a:t>");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Отпечатване на стойност на променлива:</a:t>
            </a:r>
          </a:p>
          <a:p>
            <a:pPr marL="0" indent="0">
              <a:buNone/>
            </a:pPr>
            <a:r>
              <a:rPr lang="en-US" dirty="0" err="1"/>
              <a:t>System.out.print</a:t>
            </a:r>
            <a:r>
              <a:rPr lang="en-US" b="1" dirty="0" err="1"/>
              <a:t>ln</a:t>
            </a:r>
            <a:r>
              <a:rPr lang="en-US" dirty="0"/>
              <a:t>(</a:t>
            </a:r>
            <a:r>
              <a:rPr lang="bg-BG" dirty="0"/>
              <a:t>а</a:t>
            </a:r>
            <a:r>
              <a:rPr lang="en-US" dirty="0"/>
              <a:t>);</a:t>
            </a:r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41238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B367D-BD38-6219-E865-5FF94FB7E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Съединяване на текст и числа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1BF74-6A00-9350-A5E5-798071E6F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При печат на текст, числа и други данни, можем да ги съединим, използвайки шаблони </a:t>
            </a:r>
          </a:p>
          <a:p>
            <a:pPr marL="0" indent="0">
              <a:buNone/>
            </a:pPr>
            <a:r>
              <a:rPr lang="ru-RU" b="1" dirty="0"/>
              <a:t>%s (String), %d (int), %f (double), %c (char), %n (new line),…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Scanner </a:t>
            </a:r>
            <a:r>
              <a:rPr lang="en-US" dirty="0" err="1"/>
              <a:t>scanner</a:t>
            </a:r>
            <a:r>
              <a:rPr lang="en-US" dirty="0"/>
              <a:t> = new Scanner(System.in);</a:t>
            </a:r>
          </a:p>
          <a:p>
            <a:pPr marL="0" indent="0">
              <a:buNone/>
            </a:pPr>
            <a:r>
              <a:rPr lang="en-US" dirty="0"/>
              <a:t>String </a:t>
            </a:r>
            <a:r>
              <a:rPr lang="en-US" dirty="0" err="1"/>
              <a:t>firstName</a:t>
            </a:r>
            <a:r>
              <a:rPr lang="en-US" dirty="0"/>
              <a:t> = </a:t>
            </a:r>
            <a:r>
              <a:rPr lang="en-US" dirty="0" err="1"/>
              <a:t>scanner.nextLine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String </a:t>
            </a:r>
            <a:r>
              <a:rPr lang="en-US" dirty="0" err="1"/>
              <a:t>lastName</a:t>
            </a:r>
            <a:r>
              <a:rPr lang="en-US" dirty="0"/>
              <a:t> = </a:t>
            </a:r>
            <a:r>
              <a:rPr lang="en-US" dirty="0" err="1"/>
              <a:t>scanner.nextLine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int age = </a:t>
            </a:r>
            <a:r>
              <a:rPr lang="en-US" dirty="0" err="1"/>
              <a:t>Integer.parseInt</a:t>
            </a:r>
            <a:r>
              <a:rPr lang="en-US" dirty="0"/>
              <a:t>(</a:t>
            </a:r>
            <a:r>
              <a:rPr lang="en-US" dirty="0" err="1"/>
              <a:t>scanner.nextLine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String town = </a:t>
            </a:r>
            <a:r>
              <a:rPr lang="en-US" dirty="0" err="1"/>
              <a:t>scanner.nextLine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System.out.print</a:t>
            </a:r>
            <a:r>
              <a:rPr lang="en-US" b="1" dirty="0" err="1"/>
              <a:t>f</a:t>
            </a:r>
            <a:r>
              <a:rPr lang="en-US" dirty="0"/>
              <a:t>("You are </a:t>
            </a:r>
            <a:r>
              <a:rPr lang="en-US" b="1" dirty="0"/>
              <a:t>%s %s</a:t>
            </a:r>
            <a:r>
              <a:rPr lang="en-US" dirty="0"/>
              <a:t>, a </a:t>
            </a:r>
            <a:r>
              <a:rPr lang="en-US" b="1" dirty="0"/>
              <a:t>%d</a:t>
            </a:r>
            <a:r>
              <a:rPr lang="en-US" dirty="0"/>
              <a:t>-years old person from </a:t>
            </a:r>
            <a:r>
              <a:rPr lang="en-US" b="1" dirty="0"/>
              <a:t>%s</a:t>
            </a:r>
            <a:r>
              <a:rPr lang="en-US" dirty="0"/>
              <a:t>.", </a:t>
            </a:r>
            <a:r>
              <a:rPr lang="en-US" b="1" dirty="0" err="1"/>
              <a:t>firstName</a:t>
            </a:r>
            <a:r>
              <a:rPr lang="en-US" b="1" dirty="0"/>
              <a:t>, </a:t>
            </a:r>
            <a:r>
              <a:rPr lang="en-US" b="1" dirty="0" err="1"/>
              <a:t>lastName</a:t>
            </a:r>
            <a:r>
              <a:rPr lang="en-US" b="1" dirty="0"/>
              <a:t>, age, town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44637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19FA-7943-D893-D96E-8E1D665E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Какво научих днес: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BF5BE-3728-7EE7-446A-CAB350FBB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Виртуална машина.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Развойни среди.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Създаване на проект.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Структура на проект.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Създаване на пакет и „Main“ клас.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Вход и изход в конзолата. 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06184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1E51-1E1A-E50F-99EC-4AFFE0A35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Задачи: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578A-C809-FF0B-4690-7356EC0E6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437" y="1825625"/>
            <a:ext cx="10788072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Напишете програма, която извежда на конзолата текста „Hello!“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Напишете програма, която принтира числата от 1 до 5, всяко на нов ред.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Напишете програма, която отпечатва име въведено от потребителя.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Напишете програма, която намира сбора на две числа въведени от потребителя.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Напишете програма, която пресмята на лице на квадрат със страна а.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Напишете програма, която конвертира инчове в сантиметри.</a:t>
            </a:r>
          </a:p>
          <a:p>
            <a:pPr marL="0" indent="0">
              <a:buNone/>
            </a:pPr>
            <a:r>
              <a:rPr lang="ru-RU" dirty="0"/>
              <a:t>		</a:t>
            </a:r>
            <a:r>
              <a:rPr lang="en-US" dirty="0"/>
              <a:t>centimeters = inches * 2.54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18977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36C34-4663-2FE8-7019-4BD3D10E8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Зачади: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6B396-2F12-4F12-151F-D9183C765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909" y="1825625"/>
            <a:ext cx="10825017" cy="4351338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 startAt="7"/>
            </a:pPr>
            <a:r>
              <a:rPr lang="bg-BG" dirty="0"/>
              <a:t>Напишете програма, която </a:t>
            </a:r>
            <a:r>
              <a:rPr lang="ru-RU" dirty="0"/>
              <a:t>чете от конзолата име на човек, въведено от потребителя и отпечатва «Hello, &lt;name&gt;!».</a:t>
            </a:r>
          </a:p>
          <a:p>
            <a:pPr>
              <a:buFont typeface="+mj-lt"/>
              <a:buAutoNum type="arabicPeriod" startAt="7"/>
            </a:pPr>
            <a:r>
              <a:rPr lang="ru-RU" dirty="0"/>
              <a:t>Напишете програма, която чете от конзолата име и фамилия, години и град и отпечатва следния текст:</a:t>
            </a:r>
          </a:p>
          <a:p>
            <a:pPr marL="0" indent="0">
              <a:buNone/>
            </a:pPr>
            <a:r>
              <a:rPr lang="bg-BG" dirty="0"/>
              <a:t>	„</a:t>
            </a:r>
            <a:r>
              <a:rPr lang="en-US" dirty="0"/>
              <a:t>You are &lt;</a:t>
            </a:r>
            <a:r>
              <a:rPr lang="bg-BG" dirty="0"/>
              <a:t>име</a:t>
            </a:r>
            <a:r>
              <a:rPr lang="en-US" dirty="0"/>
              <a:t>&gt;</a:t>
            </a:r>
            <a:r>
              <a:rPr lang="bg-BG" dirty="0"/>
              <a:t> </a:t>
            </a:r>
            <a:r>
              <a:rPr lang="en-US" dirty="0"/>
              <a:t>&lt;</a:t>
            </a:r>
            <a:r>
              <a:rPr lang="bg-BG" dirty="0"/>
              <a:t>фамилия</a:t>
            </a:r>
            <a:r>
              <a:rPr lang="en-US" dirty="0"/>
              <a:t>&gt;, a &lt;</a:t>
            </a:r>
            <a:r>
              <a:rPr lang="bg-BG" dirty="0"/>
              <a:t>години</a:t>
            </a:r>
            <a:r>
              <a:rPr lang="en-US" dirty="0"/>
              <a:t>&gt;-years old person from &lt;</a:t>
            </a:r>
            <a:r>
              <a:rPr lang="bg-BG" dirty="0"/>
              <a:t>град</a:t>
            </a:r>
            <a:r>
              <a:rPr lang="en-US" dirty="0"/>
              <a:t>&gt;.</a:t>
            </a:r>
            <a:r>
              <a:rPr lang="bg-BG" dirty="0"/>
              <a:t>“</a:t>
            </a:r>
          </a:p>
          <a:p>
            <a:pPr>
              <a:buFont typeface="+mj-lt"/>
              <a:buAutoNum type="arabicPeriod" startAt="7"/>
            </a:pPr>
            <a:r>
              <a:rPr lang="ru-RU" dirty="0"/>
              <a:t>Да се напише Java конзолна програма, която отпечатва триъгълник от 10 звездички, разположени на 10 реда:</a:t>
            </a:r>
          </a:p>
          <a:p>
            <a:pPr marL="0" indent="0">
              <a:buNone/>
            </a:pPr>
            <a:r>
              <a:rPr lang="ru-RU" dirty="0"/>
              <a:t>		*</a:t>
            </a:r>
          </a:p>
          <a:p>
            <a:pPr marL="0" indent="0">
              <a:buNone/>
            </a:pPr>
            <a:r>
              <a:rPr lang="ru-RU" dirty="0"/>
              <a:t>		**</a:t>
            </a:r>
          </a:p>
          <a:p>
            <a:pPr marL="0" indent="0">
              <a:buNone/>
            </a:pPr>
            <a:r>
              <a:rPr lang="ru-RU" dirty="0"/>
              <a:t>		***</a:t>
            </a:r>
          </a:p>
          <a:p>
            <a:pPr marL="0" indent="0">
              <a:buNone/>
            </a:pPr>
            <a:r>
              <a:rPr lang="ru-RU"/>
              <a:t>		****</a:t>
            </a:r>
            <a:endParaRPr lang="ru-RU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5497614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2380</TotalTime>
  <Words>1845</Words>
  <Application>Microsoft Office PowerPoint</Application>
  <PresentationFormat>Widescreen</PresentationFormat>
  <Paragraphs>201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Century Gothic</vt:lpstr>
      <vt:lpstr>Wingdings</vt:lpstr>
      <vt:lpstr>Wingdings 3</vt:lpstr>
      <vt:lpstr>Wisp</vt:lpstr>
      <vt:lpstr>Упражнение 1: Въведение</vt:lpstr>
      <vt:lpstr>Упражнението днес:</vt:lpstr>
      <vt:lpstr>Java Virtual Machine </vt:lpstr>
      <vt:lpstr>Java виртуалната машина (JVM) </vt:lpstr>
      <vt:lpstr> Развойни среди (IDE)</vt:lpstr>
      <vt:lpstr>Основни елементи на IDE</vt:lpstr>
      <vt:lpstr>IDEs за JAVA</vt:lpstr>
      <vt:lpstr> Създаване на проект</vt:lpstr>
      <vt:lpstr>Създаване на проект</vt:lpstr>
      <vt:lpstr> Структура на проект</vt:lpstr>
      <vt:lpstr>Пакети (Packages)</vt:lpstr>
      <vt:lpstr>Създаване на пакет</vt:lpstr>
      <vt:lpstr>Клавишни комбинации в IntelliJ IDEA </vt:lpstr>
      <vt:lpstr>Именуване на проекти, пакети и класове</vt:lpstr>
      <vt:lpstr> „Main“ клас</vt:lpstr>
      <vt:lpstr> public static void main(String[] args) {.......}</vt:lpstr>
      <vt:lpstr>Системна конзола </vt:lpstr>
      <vt:lpstr>Променливи</vt:lpstr>
      <vt:lpstr>Типове данни</vt:lpstr>
      <vt:lpstr>Четене от конзолата</vt:lpstr>
      <vt:lpstr>Команда за четене от конзолата</vt:lpstr>
      <vt:lpstr>Четене на цели числа от конзолата</vt:lpstr>
      <vt:lpstr>Четене на дробни (реални) числа</vt:lpstr>
      <vt:lpstr>Отпечатване на конзолата</vt:lpstr>
      <vt:lpstr>Съединяване на текст и числа</vt:lpstr>
      <vt:lpstr>Какво научих днес:</vt:lpstr>
      <vt:lpstr>Задачи:</vt:lpstr>
      <vt:lpstr>Зачади: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Лилия Андонова</dc:creator>
  <cp:lastModifiedBy>Лилия Андонова</cp:lastModifiedBy>
  <cp:revision>10</cp:revision>
  <dcterms:created xsi:type="dcterms:W3CDTF">2024-10-04T03:41:48Z</dcterms:created>
  <dcterms:modified xsi:type="dcterms:W3CDTF">2025-09-27T12:11:51Z</dcterms:modified>
</cp:coreProperties>
</file>